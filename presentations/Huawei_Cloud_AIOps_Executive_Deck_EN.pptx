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90e406bffa4d0d" /><Relationship Type="http://schemas.openxmlformats.org/officeDocument/2006/relationships/extended-properties" Target="/docProps/app.xml" Id="R6bd86c481e194bd6" /><Relationship Type="http://schemas.openxmlformats.org/officeDocument/2006/relationships/officeDocument" Target="/ppt/presentation.xml" Id="R0978c2260fbb4f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c3683298894dff"/>
  </p:sldMasterIdLst>
  <p:notesMasterIdLst>
    <p:notesMasterId xmlns:r="http://schemas.openxmlformats.org/officeDocument/2006/relationships" r:id="R517c0de0112b4f2a"/>
  </p:notesMasterIdLst>
  <p:sldIdLst>
    <p:sldId xmlns:r="http://schemas.openxmlformats.org/officeDocument/2006/relationships" id="256" r:id="R087e0e21b8464ad0"/>
    <p:sldId xmlns:r="http://schemas.openxmlformats.org/officeDocument/2006/relationships" id="257" r:id="R9ff4bc534e994ce6"/>
    <p:sldId xmlns:r="http://schemas.openxmlformats.org/officeDocument/2006/relationships" id="258" r:id="Rdfb2eb25b4964170"/>
    <p:sldId xmlns:r="http://schemas.openxmlformats.org/officeDocument/2006/relationships" id="259" r:id="Ra10f7071b0484983"/>
    <p:sldId xmlns:r="http://schemas.openxmlformats.org/officeDocument/2006/relationships" id="260" r:id="Rd48cacc09aca4bca"/>
    <p:sldId xmlns:r="http://schemas.openxmlformats.org/officeDocument/2006/relationships" id="261" r:id="R7768a5d710784717"/>
    <p:sldId xmlns:r="http://schemas.openxmlformats.org/officeDocument/2006/relationships" id="262" r:id="R2509b64986d24065"/>
    <p:sldId xmlns:r="http://schemas.openxmlformats.org/officeDocument/2006/relationships" id="263" r:id="R1cf30627b413406c"/>
    <p:sldId xmlns:r="http://schemas.openxmlformats.org/officeDocument/2006/relationships" id="264" r:id="Rc88dd970b7c7421f"/>
    <p:sldId xmlns:r="http://schemas.openxmlformats.org/officeDocument/2006/relationships" id="265" r:id="Rd2317cbc40cc44e7"/>
    <p:sldId xmlns:r="http://schemas.openxmlformats.org/officeDocument/2006/relationships" id="266" r:id="Rc94b7d5a90274e3e"/>
    <p:sldId xmlns:r="http://schemas.openxmlformats.org/officeDocument/2006/relationships" id="267" r:id="R4d35ee1992b54fa0"/>
    <p:sldId xmlns:r="http://schemas.openxmlformats.org/officeDocument/2006/relationships" id="268" r:id="Rbec8a900320342bd"/>
    <p:sldId xmlns:r="http://schemas.openxmlformats.org/officeDocument/2006/relationships" id="269" r:id="R33b62295742d4ee4"/>
    <p:sldId xmlns:r="http://schemas.openxmlformats.org/officeDocument/2006/relationships" id="270" r:id="Re0c9dcde3a27436e"/>
    <p:sldId xmlns:r="http://schemas.openxmlformats.org/officeDocument/2006/relationships" id="271" r:id="Rc73bcea0f55f4fad"/>
    <p:sldId xmlns:r="http://schemas.openxmlformats.org/officeDocument/2006/relationships" id="272" r:id="R3a09551611a5433d"/>
    <p:sldId xmlns:r="http://schemas.openxmlformats.org/officeDocument/2006/relationships" id="273" r:id="Rb388b6bd484d47c5"/>
    <p:sldId xmlns:r="http://schemas.openxmlformats.org/officeDocument/2006/relationships" id="274" r:id="R4ae5836364604c75"/>
    <p:sldId xmlns:r="http://schemas.openxmlformats.org/officeDocument/2006/relationships" id="275" r:id="R1b98130dcbb341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3a86ea27d544a4" /><Relationship Type="http://schemas.openxmlformats.org/officeDocument/2006/relationships/slideMaster" Target="/ppt/slideMasters/slideMaster1.xml" Id="R7bc3683298894dff" /><Relationship Type="http://schemas.openxmlformats.org/officeDocument/2006/relationships/notesMaster" Target="/ppt/notesMasters/notesMaster1.xml" Id="R517c0de0112b4f2a" /><Relationship Type="http://schemas.openxmlformats.org/officeDocument/2006/relationships/presProps" Target="/ppt/presProps.xml" Id="Rd8c8dc9ce704427c" /><Relationship Type="http://schemas.openxmlformats.org/officeDocument/2006/relationships/tableStyles" Target="/ppt/tableStyles.xml" Id="Rf8d17a15a8794a84" /><Relationship Type="http://schemas.openxmlformats.org/officeDocument/2006/relationships/slide" Target="/ppt/slides/slide1.xml" Id="R087e0e21b8464ad0" /><Relationship Type="http://schemas.openxmlformats.org/officeDocument/2006/relationships/slide" Target="/ppt/slides/slide2.xml" Id="R9ff4bc534e994ce6" /><Relationship Type="http://schemas.openxmlformats.org/officeDocument/2006/relationships/slide" Target="/ppt/slides/slide3.xml" Id="Rdfb2eb25b4964170" /><Relationship Type="http://schemas.openxmlformats.org/officeDocument/2006/relationships/slide" Target="/ppt/slides/slide4.xml" Id="Ra10f7071b0484983" /><Relationship Type="http://schemas.openxmlformats.org/officeDocument/2006/relationships/slide" Target="/ppt/slides/slide5.xml" Id="Rd48cacc09aca4bca" /><Relationship Type="http://schemas.openxmlformats.org/officeDocument/2006/relationships/slide" Target="/ppt/slides/slide6.xml" Id="R7768a5d710784717" /><Relationship Type="http://schemas.openxmlformats.org/officeDocument/2006/relationships/slide" Target="/ppt/slides/slide7.xml" Id="R2509b64986d24065" /><Relationship Type="http://schemas.openxmlformats.org/officeDocument/2006/relationships/slide" Target="/ppt/slides/slide8.xml" Id="R1cf30627b413406c" /><Relationship Type="http://schemas.openxmlformats.org/officeDocument/2006/relationships/slide" Target="/ppt/slides/slide9.xml" Id="Rc88dd970b7c7421f" /><Relationship Type="http://schemas.openxmlformats.org/officeDocument/2006/relationships/slide" Target="/ppt/slides/slide10.xml" Id="Rd2317cbc40cc44e7" /><Relationship Type="http://schemas.openxmlformats.org/officeDocument/2006/relationships/slide" Target="/ppt/slides/slide11.xml" Id="Rc94b7d5a90274e3e" /><Relationship Type="http://schemas.openxmlformats.org/officeDocument/2006/relationships/slide" Target="/ppt/slides/slide12.xml" Id="R4d35ee1992b54fa0" /><Relationship Type="http://schemas.openxmlformats.org/officeDocument/2006/relationships/slide" Target="/ppt/slides/slide13.xml" Id="Rbec8a900320342bd" /><Relationship Type="http://schemas.openxmlformats.org/officeDocument/2006/relationships/slide" Target="/ppt/slides/slide14.xml" Id="R33b62295742d4ee4" /><Relationship Type="http://schemas.openxmlformats.org/officeDocument/2006/relationships/slide" Target="/ppt/slides/slide15.xml" Id="Re0c9dcde3a27436e" /><Relationship Type="http://schemas.openxmlformats.org/officeDocument/2006/relationships/slide" Target="/ppt/slides/slide16.xml" Id="Rc73bcea0f55f4fad" /><Relationship Type="http://schemas.openxmlformats.org/officeDocument/2006/relationships/slide" Target="/ppt/slides/slide17.xml" Id="R3a09551611a5433d" /><Relationship Type="http://schemas.openxmlformats.org/officeDocument/2006/relationships/slide" Target="/ppt/slides/slide18.xml" Id="Rb388b6bd484d47c5" /><Relationship Type="http://schemas.openxmlformats.org/officeDocument/2006/relationships/slide" Target="/ppt/slides/slide19.xml" Id="R4ae5836364604c75" /><Relationship Type="http://schemas.openxmlformats.org/officeDocument/2006/relationships/slide" Target="/ppt/slides/slide20.xml" Id="R1b98130dcbb341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3f7417237c4f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885010ceee4572" /><Relationship Type="http://schemas.openxmlformats.org/officeDocument/2006/relationships/notesMaster" Target="/ppt/notesMasters/notesMaster1.xml" Id="Rbcea478d8b6e4a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e6a5e255714ffc" /><Relationship Type="http://schemas.openxmlformats.org/officeDocument/2006/relationships/notesMaster" Target="/ppt/notesMasters/notesMaster1.xml" Id="R95fbaa36a64d4c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3fa4d1a2a942e2" /><Relationship Type="http://schemas.openxmlformats.org/officeDocument/2006/relationships/notesMaster" Target="/ppt/notesMasters/notesMaster1.xml" Id="Rd530bcce4c4f41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d24adf4f7b4e88" /><Relationship Type="http://schemas.openxmlformats.org/officeDocument/2006/relationships/notesMaster" Target="/ppt/notesMasters/notesMaster1.xml" Id="R750f1034d5b24d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69c4979e0e40f5" /><Relationship Type="http://schemas.openxmlformats.org/officeDocument/2006/relationships/notesMaster" Target="/ppt/notesMasters/notesMaster1.xml" Id="R75191d90fcfb42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bbaf77f5f34158" /><Relationship Type="http://schemas.openxmlformats.org/officeDocument/2006/relationships/notesMaster" Target="/ppt/notesMasters/notesMaster1.xml" Id="R9b2dd8de8ccc4d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986cc6795f4f7d" /><Relationship Type="http://schemas.openxmlformats.org/officeDocument/2006/relationships/notesMaster" Target="/ppt/notesMasters/notesMaster1.xml" Id="R7076a2e8fc464b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72c526d2514196" /><Relationship Type="http://schemas.openxmlformats.org/officeDocument/2006/relationships/notesMaster" Target="/ppt/notesMasters/notesMaster1.xml" Id="R9b43da148cb643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15dfac71144654" /><Relationship Type="http://schemas.openxmlformats.org/officeDocument/2006/relationships/notesMaster" Target="/ppt/notesMasters/notesMaster1.xml" Id="R8eb51eb605fe48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49481f33d542cb" /><Relationship Type="http://schemas.openxmlformats.org/officeDocument/2006/relationships/notesMaster" Target="/ppt/notesMasters/notesMaster1.xml" Id="R54ff049a9d8a44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c3b8b7b9af403c" /><Relationship Type="http://schemas.openxmlformats.org/officeDocument/2006/relationships/notesMaster" Target="/ppt/notesMasters/notesMaster1.xml" Id="R5369b09c95724d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20a3bec5e54368" /><Relationship Type="http://schemas.openxmlformats.org/officeDocument/2006/relationships/notesMaster" Target="/ppt/notesMasters/notesMaster1.xml" Id="R933bd413c76e44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521d545b934d6b" /><Relationship Type="http://schemas.openxmlformats.org/officeDocument/2006/relationships/notesMaster" Target="/ppt/notesMasters/notesMaster1.xml" Id="R237b2fe6702141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291b4e06424c23" /><Relationship Type="http://schemas.openxmlformats.org/officeDocument/2006/relationships/notesMaster" Target="/ppt/notesMasters/notesMaster1.xml" Id="R684321d540f347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6aa348ee034e33" /><Relationship Type="http://schemas.openxmlformats.org/officeDocument/2006/relationships/notesMaster" Target="/ppt/notesMasters/notesMaster1.xml" Id="R1557ce977d2b42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c7316ed3574ba6" /><Relationship Type="http://schemas.openxmlformats.org/officeDocument/2006/relationships/notesMaster" Target="/ppt/notesMasters/notesMaster1.xml" Id="R8aefc23541c24d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a9834b59fa435b" /><Relationship Type="http://schemas.openxmlformats.org/officeDocument/2006/relationships/notesMaster" Target="/ppt/notesMasters/notesMaster1.xml" Id="R23ac6ee088154a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6cf04b43134caf" /><Relationship Type="http://schemas.openxmlformats.org/officeDocument/2006/relationships/notesMaster" Target="/ppt/notesMasters/notesMaster1.xml" Id="R5384efe071054b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c57d84eb444353" /><Relationship Type="http://schemas.openxmlformats.org/officeDocument/2006/relationships/notesMaster" Target="/ppt/notesMasters/notesMaster1.xml" Id="R5f966676cc6542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9226c3db714a91" /><Relationship Type="http://schemas.openxmlformats.org/officeDocument/2006/relationships/notesMaster" Target="/ppt/notesMasters/notesMaster1.xml" Id="R7f2fd62e05524a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Original project-owned hero image generated for this presentation; no external logo or copied brand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https://support.huaweicloud.com/intl/en-us/usermanual-cce/cce_10_0110.html</a:t>
            </a:r>
          </a:p>
          <a:p xmlns:a="http://schemas.openxmlformats.org/drawingml/2006/main">
            <a:r>
              <a:t>- https://support.huaweicloud.com/intl/en-us/productdesc-aom2/aom_01_0001.html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https://support.huaweicloud.com/intl/en-us/usermanual-aom2/mon_01_0197.html</a:t>
            </a:r>
          </a:p>
          <a:p xmlns:a="http://schemas.openxmlformats.org/drawingml/2006/main">
            <a:r>
              <a:t>- https://support.huaweicloud.com/intl/en-us/usermanual-cce/cce_10_0416.html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Synthetic incident scenario defined in scripts/simulate_incident.py.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Internal Grafana dashboard JSON: 01-executive-overview.json.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Internal Grafana dashboard JSON: 02-slo-error-budget.json.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Internal Grafana dashboard JSON: 03-incident-intelligence.json.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Synthetic incident scenario defined in scripts/simulate_incident.py.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https://support.huaweicloud.com/intl/en-us/productdesc-aom2/aom_01_0001.html</a:t>
            </a:r>
          </a:p>
          <a:p xmlns:a="http://schemas.openxmlformats.org/drawingml/2006/main">
            <a:r>
              <a:t>- https://support.huaweicloud.com/intl/en-us/usermanual-cce/cce_10_0110.html</a:t>
            </a:r>
          </a:p>
          <a:p xmlns:a="http://schemas.openxmlformats.org/drawingml/2006/main">
            <a:r>
              <a:t>- https://github.com/huaweicloud/terraform-provider-huaweicloud/releases/tag/v1.95.0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  <a:p xmlns:a="http://schemas.openxmlformats.org/drawingml/2006/main">
            <a:r>
              <a:t>- Local validation on 2026-07-28: 36 passed; total coverage 93.76%.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Visible content is written for executive and technical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 code, tests, dashboards, runbooks, and infrastructure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8ea9963ae41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e99889857744d1" /><Relationship Type="http://schemas.openxmlformats.org/officeDocument/2006/relationships/slideLayout" Target="/ppt/slideLayouts/slideLayout1.xml" Id="R15ab621b364d4b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ab621b364d4b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0b88e37464797" /><Relationship Type="http://schemas.openxmlformats.org/officeDocument/2006/relationships/image" Target="/ppt/media/image.png" Id="Rb0ab0f44beb443c0" /><Relationship Type="http://schemas.openxmlformats.org/officeDocument/2006/relationships/notesSlide" Target="/ppt/notesSlides/notesSlide1.xml" Id="R3dc526e0f90041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b6ecdec964d7f" /><Relationship Type="http://schemas.openxmlformats.org/officeDocument/2006/relationships/notesSlide" Target="/ppt/notesSlides/notesSlide2.xml" Id="R80359fca4b7245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9ead4c4114f5f" /><Relationship Type="http://schemas.openxmlformats.org/officeDocument/2006/relationships/notesSlide" Target="/ppt/notesSlides/notesSlide3.xml" Id="R57f8b8756e2b4f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dcad180ab40ae" /><Relationship Type="http://schemas.openxmlformats.org/officeDocument/2006/relationships/notesSlide" Target="/ppt/notesSlides/notesSlide4.xml" Id="R4748ecd9981b41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f721608524418" /><Relationship Type="http://schemas.openxmlformats.org/officeDocument/2006/relationships/notesSlide" Target="/ppt/notesSlides/notesSlide5.xml" Id="R020cf28fb3f74b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ebb24ea31422a" /><Relationship Type="http://schemas.openxmlformats.org/officeDocument/2006/relationships/notesSlide" Target="/ppt/notesSlides/notesSlide6.xml" Id="Raea509239d0c47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095973ec5434c" /><Relationship Type="http://schemas.openxmlformats.org/officeDocument/2006/relationships/notesSlide" Target="/ppt/notesSlides/notesSlide7.xml" Id="R57fffea2ba0f45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dfc7ea6ef4e60" /><Relationship Type="http://schemas.openxmlformats.org/officeDocument/2006/relationships/chart" Target="/ppt/slides/charts/chart1.xml" Id="Rc3891706b97c476c" /><Relationship Type="http://schemas.openxmlformats.org/officeDocument/2006/relationships/notesSlide" Target="/ppt/notesSlides/notesSlide8.xml" Id="Rc18b3bd9319a40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af1da473d433b" /><Relationship Type="http://schemas.openxmlformats.org/officeDocument/2006/relationships/notesSlide" Target="/ppt/notesSlides/notesSlide9.xml" Id="Ra3d65d60ea3f4b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5e411d1da4f91" /><Relationship Type="http://schemas.openxmlformats.org/officeDocument/2006/relationships/notesSlide" Target="/ppt/notesSlides/notesSlide10.xml" Id="Rbbbe54e4c19c4d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616def31a4385" /><Relationship Type="http://schemas.openxmlformats.org/officeDocument/2006/relationships/notesSlide" Target="/ppt/notesSlides/notesSlide11.xml" Id="Rba6bcbe0299e44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fb50affe24198" /><Relationship Type="http://schemas.openxmlformats.org/officeDocument/2006/relationships/notesSlide" Target="/ppt/notesSlides/notesSlide12.xml" Id="R777e20ff537c45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df1c9801f4343" /><Relationship Type="http://schemas.openxmlformats.org/officeDocument/2006/relationships/notesSlide" Target="/ppt/notesSlides/notesSlide13.xml" Id="R9941388a034e4c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b11d95ab34949" /><Relationship Type="http://schemas.openxmlformats.org/officeDocument/2006/relationships/notesSlide" Target="/ppt/notesSlides/notesSlide14.xml" Id="R9937c3fd62b44c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53f33fcca44ae" /><Relationship Type="http://schemas.openxmlformats.org/officeDocument/2006/relationships/notesSlide" Target="/ppt/notesSlides/notesSlide15.xml" Id="R120aa369a0164b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32c0d75704f8c" /><Relationship Type="http://schemas.openxmlformats.org/officeDocument/2006/relationships/notesSlide" Target="/ppt/notesSlides/notesSlide16.xml" Id="R686e52c4469542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4001740ef4637" /><Relationship Type="http://schemas.openxmlformats.org/officeDocument/2006/relationships/notesSlide" Target="/ppt/notesSlides/notesSlide17.xml" Id="Rf83f0d9227484c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9238e2ae44ff5" /><Relationship Type="http://schemas.openxmlformats.org/officeDocument/2006/relationships/notesSlide" Target="/ppt/notesSlides/notesSlide18.xml" Id="Rec72bd76eafc499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311dbff7f47bc" /><Relationship Type="http://schemas.openxmlformats.org/officeDocument/2006/relationships/notesSlide" Target="/ppt/notesSlides/notesSlide19.xml" Id="R00528db84cad4d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df57053d84d0a" /><Relationship Type="http://schemas.openxmlformats.org/officeDocument/2006/relationships/notesSlide" Target="/ppt/notesSlides/notesSlide20.xml" Id="R51daef5d68254b6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p95 latency (s)</c:v>
          </c:tx>
          <c:spPr>
            <a:ln xmlns:a="http://schemas.openxmlformats.org/drawingml/2006/main" w="38100">
              <a:solidFill>
                <a:srgbClr val="F04444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0.18</c:v>
              </c:pt>
              <c:pt idx="1">
                <c:v>0.2</c:v>
              </c:pt>
              <c:pt idx="2">
                <c:v>0.19</c:v>
              </c:pt>
              <c:pt idx="3">
                <c:v>0.21</c:v>
              </c:pt>
              <c:pt idx="4">
                <c:v>0.2</c:v>
              </c:pt>
              <c:pt idx="5">
                <c:v>0.22</c:v>
              </c:pt>
              <c:pt idx="6">
                <c:v>0.21</c:v>
              </c:pt>
              <c:pt idx="7">
                <c:v>0.19</c:v>
              </c:pt>
              <c:pt idx="8">
                <c:v>0.23</c:v>
              </c:pt>
              <c:pt idx="9">
                <c:v>0.21</c:v>
              </c:pt>
              <c:pt idx="10">
                <c:v>0.22</c:v>
              </c:pt>
              <c:pt idx="11">
                <c:v>1.48</c:v>
              </c:pt>
            </c:numLit>
          </c:val>
        </c:ser>
        <c:ser>
          <c:idx val="1"/>
          <c:order val="1"/>
          <c:tx>
            <c:v>Baseline</c:v>
          </c:tx>
          <c:spPr>
            <a:ln xmlns:a="http://schemas.openxmlformats.org/drawingml/2006/main" w="19050">
              <a:solidFill>
                <a:srgbClr val="48C6E8"/>
              </a:solidFill>
              <a:prstDash val="dash"/>
            </a:ln>
          </c:spPr>
          <c:marker>
            <c:symbol val="none"/>
            <c:size val="2"/>
          </c:marker>
          <c:cat>
            <c:numLit>
              <c:formatCode>General</c:formatCode>
              <c:ptCount val="12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0.0</c:formatCode>
              <c:ptCount val="12"/>
              <c:pt idx="0">
                <c:v>0.21</c:v>
              </c:pt>
              <c:pt idx="1">
                <c:v>0.21</c:v>
              </c:pt>
              <c:pt idx="2">
                <c:v>0.21</c:v>
              </c:pt>
              <c:pt idx="3">
                <c:v>0.21</c:v>
              </c:pt>
              <c:pt idx="4">
                <c:v>0.21</c:v>
              </c:pt>
              <c:pt idx="5">
                <c:v>0.21</c:v>
              </c:pt>
              <c:pt idx="6">
                <c:v>0.21</c:v>
              </c:pt>
              <c:pt idx="7">
                <c:v>0.21</c:v>
              </c:pt>
              <c:pt idx="8">
                <c:v>0.21</c:v>
              </c:pt>
              <c:pt idx="9">
                <c:v>0.21</c:v>
              </c:pt>
              <c:pt idx="10">
                <c:v>0.21</c:v>
              </c:pt>
              <c:pt idx="11">
                <c:v>0.21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4404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A6B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03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34404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AA6B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1172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9AA6B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111720"/>
    </a:solidFill>
    <a:ln xmlns:a="http://schemas.openxmlformats.org/drawingml/2006/main" w="0">
      <a:solidFill>
        <a:srgbClr val="11172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b0f44beb443c0"/>
          <a:srcRect xmlns:a="http://schemas.openxmlformats.org/drawingml/2006/main" l="15216" t="0" r="152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0"/>
            <a:ext cx="8477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87D12-9A94-474B-AC82-D070D409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B7627-46C4-4C71-84D6-5E5B7C86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288D5-5AEB-4105-BDD7-893629CF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4444"/>
                </a:solidFill>
              </a:defRPr>
            </a:pPr>
            <a:r>
              <a:rPr sz="1275" b="1">
                <a:solidFill>
                  <a:srgbClr val="F04444"/>
                </a:solidFill>
              </a:rPr>
              <a:t>HUAWEI CLOUD-NATIVE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1AE2C-25A4-4F23-9E97-090F558C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457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AIOps, Observability &amp; Automated Incident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2B149-C697-4ABA-8949-F91168B4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AA6B2"/>
                </a:solidFill>
              </a:defRPr>
            </a:pPr>
            <a:r>
              <a:rPr sz="1650" b="0">
                <a:solidFill>
                  <a:srgbClr val="9AA6B2"/>
                </a:solidFill>
              </a:rPr>
              <a:t>An evidence-driven SRE operating model for CCE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61CB4-E8A5-444F-85AE-05026435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Murat Miraç Gedik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E9B39-6375-44CC-8381-AC5A2908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</a:defRPr>
            </a:pPr>
            <a:r>
              <a:rPr sz="1125" b="0">
                <a:solidFill>
                  <a:srgbClr val="5F6B78"/>
                </a:solidFill>
              </a:rPr>
              <a:t>Portfolio Reference Architecture  •  2026</a:t>
            </a:r>
          </a:p>
        </p:txBody>
      </p:sp>
    </p:spTree>
    <p:extLst>
      <p:ext uri="{BB962C8B-B14F-4D97-AF65-F5344CB8AC3E}">
        <p14:creationId xmlns:p14="http://schemas.microsoft.com/office/powerpoint/2010/main" val="292432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B747C1-0AD1-4374-B91B-52399A6D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0037A-B480-46CD-9BEB-CC5D9445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EXECUTIVE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BF111-EC30-4D6A-9CEC-21F23DB0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Seeing failure is not enough; response must be safe and correct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2E896-86F9-4B55-A61D-D29AEFF8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6B13F-F225-403A-ABF2-F8256B3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12C0E-FE7F-4CF0-A88C-476083C0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CB6A6-D778-4CA6-B8EE-F474AD81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7FB"/>
                </a:solidFill>
              </a:defRPr>
            </a:pPr>
            <a:r>
              <a:rPr sz="2625" b="1">
                <a:solidFill>
                  <a:srgbClr val="F4F7FB"/>
                </a:solidFill>
              </a:rPr>
              <a:t>Fragmented telemetry, noisy alerts, and manual recovery extend detection time and increase the risk of the wrong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FAB88-B6E0-43F0-A858-F476766B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80FF7-A324-426D-94D6-88E7DF78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1143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0FC75-701B-4FDE-985F-1F9720BB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90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C6E8"/>
                </a:solidFill>
              </a:defRPr>
            </a:pPr>
            <a:r>
              <a:rPr sz="2250" b="1">
                <a:solidFill>
                  <a:srgbClr val="48C6E8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0F616-E42F-4138-890F-28FF41E5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43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Detect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E1651-B760-4F30-A9D3-0FB92EE0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19325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Combine metric, log, and trace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242F1-BA7E-433B-BDE9-1A4F9C42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08769-07B9-4591-837B-DDC7F5BE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1143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8FE1C-89CC-4A97-9ED3-91B1122A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622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453"/>
                </a:solidFill>
              </a:defRPr>
            </a:pPr>
            <a:r>
              <a:rPr sz="2250" b="1">
                <a:solidFill>
                  <a:srgbClr val="F6C453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72383-5862-4BD3-B5BE-502CFC91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871F0-7781-4FEB-A1A2-28FD51EB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90875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Show anomaly evidence and rank causes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83A57-8E28-444C-812D-B6B30B33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BD443-7D9D-440C-A34A-37B40567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1143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74A70-4972-4D3A-B6D6-0C1CFB91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338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8694B-61E5-4A5F-B298-9EB35E8A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86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Constrain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B6F3C6-2D05-4014-9B58-1119F12D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62425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Apply confidence, risk, and RBAC guardrails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B5670-B3FE-449D-A4C6-F3D43A49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B771B-F888-466C-870E-E012090E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1143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CD09A9-5532-4AA0-8EF1-9729C90E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053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D17C"/>
                </a:solidFill>
              </a:defRPr>
            </a:pPr>
            <a:r>
              <a:rPr sz="2250" b="1">
                <a:solidFill>
                  <a:srgbClr val="31D17C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61F192-F790-4B29-8BFD-DD5AB69E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57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56390C-38B6-4098-923D-57FF7CF6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33975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Measure SLO recovery and action outcome</a:t>
            </a:r>
          </a:p>
        </p:txBody>
      </p:sp>
    </p:spTree>
    <p:extLst>
      <p:ext uri="{BB962C8B-B14F-4D97-AF65-F5344CB8AC3E}">
        <p14:creationId xmlns:p14="http://schemas.microsoft.com/office/powerpoint/2010/main" val="490397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65F268-56B3-4A71-9B41-D7226B2B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09ED3-0E75-4FB6-A7D1-3EE68774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TARGET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ED87E-1BF7-4B31-834D-DC9414AB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The platform turns the incident lifecycle into one evidence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75E24-1EBC-4E15-9D43-67EF736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A6F6B-629C-484C-A5D8-A4657619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AAE06-751A-4E83-8769-529C4E1F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19139-3945-4AE6-9F23-E79BB351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333750"/>
            <a:ext cx="5143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A3D21-5D68-4452-ABAF-E405C058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33750"/>
            <a:ext cx="5143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2C1ED-6A83-4624-A3DA-AC8F7EAF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333750"/>
            <a:ext cx="5143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9D52A-B35A-45D0-8F1B-6C9F2AB9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333750"/>
            <a:ext cx="5143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ACB89-6B9F-470E-9257-2917C6BC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5143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9655C-31BB-4401-A693-F978147B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AFC8D-F6B4-4757-8C2B-1283EAE1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C6E8"/>
                </a:solidFill>
              </a:defRPr>
            </a:pPr>
            <a:r>
              <a:rPr sz="1500" b="1">
                <a:solidFill>
                  <a:srgbClr val="48C6E8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CA22A-F0DA-4A0D-AB3F-F70B62A6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Telemetry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045D5-0F88-4FBB-AEC2-0EB7AB69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RED + business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D6F87-D46A-4C33-A921-0ACA9C5F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ED25B-E98D-46A8-8F6B-11869532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C6E8"/>
                </a:solidFill>
              </a:defRPr>
            </a:pPr>
            <a:r>
              <a:rPr sz="1500" b="1">
                <a:solidFill>
                  <a:srgbClr val="48C6E8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36649-4F02-48E9-A824-07AAE29E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Anomaly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4F968-23A9-4632-8941-AC42247C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Hybrid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C6DB6-CC2D-46EF-9317-9F8C6674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5B4D31-2D0E-4974-92D7-CF4B30D6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C6E8"/>
                </a:solidFill>
              </a:defRPr>
            </a:pPr>
            <a:r>
              <a:rPr sz="1500" b="1">
                <a:solidFill>
                  <a:srgbClr val="48C6E8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35FE1-86F4-487B-B271-D6BB9CBD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Root cause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29821-8EFC-45CC-BAEB-B70A897F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Correlated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E0CC29-0280-497E-A1A7-26CA98F0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F5787-0CB6-4874-A466-58C58D7D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4444"/>
                </a:solidFill>
              </a:defRPr>
            </a:pPr>
            <a:r>
              <a:rPr sz="1500" b="1">
                <a:solidFill>
                  <a:srgbClr val="F04444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DBA28-5A94-4144-86CF-FA9AA808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Policy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E1266-A7BE-4BE7-9647-92CA1345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Risk + confidence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CF94C-A65A-45BD-97CC-22A3DC12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B0D9B2-4528-44AE-9D20-03D8F4BF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4444"/>
                </a:solidFill>
              </a:defRPr>
            </a:pPr>
            <a:r>
              <a:rPr sz="1500" b="1">
                <a:solidFill>
                  <a:srgbClr val="F04444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9E7990-B3CA-49C4-97E3-27347236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Response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357FFD-F6CF-4013-85FA-73180A6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Bounded 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0C8AB-681B-4CFF-9586-F21C145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ED6DAA-EE80-4198-A08C-42083A53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4444"/>
                </a:solidFill>
              </a:defRPr>
            </a:pPr>
            <a:r>
              <a:rPr sz="1500" b="1">
                <a:solidFill>
                  <a:srgbClr val="F04444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D91E27-DE53-4E5A-A063-91B89F8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Learning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04308B-F68D-4925-A072-54D57024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385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B2"/>
                </a:solidFill>
              </a:defRPr>
            </a:pPr>
            <a:r>
              <a:rPr sz="1125" b="0">
                <a:solidFill>
                  <a:srgbClr val="9AA6B2"/>
                </a:solidFill>
              </a:rPr>
              <a:t>Audit + postmortem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58DD13-9CF7-44CE-B0F7-5DA52852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Core principle: an anomaly is not a cause; response begins only when evidence and guardrails agree.</a:t>
            </a:r>
          </a:p>
        </p:txBody>
      </p:sp>
    </p:spTree>
    <p:extLst>
      <p:ext uri="{BB962C8B-B14F-4D97-AF65-F5344CB8AC3E}">
        <p14:creationId xmlns:p14="http://schemas.microsoft.com/office/powerpoint/2010/main" val="1324791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B5662-6893-42C0-9268-200A6405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46001-38F5-4904-87CF-40CBD538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REFERENCE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014BD-9BC8-4E6D-AAF0-CC8994A3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Four planes create a clear path from observation to safe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11529-3471-431D-BEED-22CCECD3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7D8B6-45E5-4594-88CB-A6EA1834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3E75B-0B76-4879-A115-AAE44D7A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C3E6E-085D-4E9C-BD5E-625B067A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3409950"/>
            <a:ext cx="26670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C83B1-30EB-48FF-A660-E947304E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3409950"/>
            <a:ext cx="26670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4B151-ECFB-44B5-A527-FF2B8FBF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3409950"/>
            <a:ext cx="266700" cy="552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8D1B5-EFF7-4F74-AA26-329DD87A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381250" cy="3238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933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393C3-BB59-4B5E-AB6E-F5DA173F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48577-A049-4098-8FDD-A28CB56F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8C6E8"/>
                </a:solidFill>
              </a:defRPr>
            </a:pPr>
            <a:r>
              <a:rPr sz="1575" b="1">
                <a:solidFill>
                  <a:srgbClr val="48C6E8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15E36-0780-48B0-A839-4BEB3EAF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Workload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BD36D-A606-4390-85B6-875BF097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60290-7D7E-4708-9DFB-5EADEDA7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Orders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C77F9-4FEC-444D-9D83-2888D963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2FA59-33F9-400E-853E-4FCBFC00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95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Catalog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F490E-9213-472D-8B8F-074B5173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D4CC9-2304-441D-9D17-F6E81C0C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576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Payments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62EE7-7B0D-45E4-9493-C25CF005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84948-35D9-49F1-9461-A6A5A8F6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958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FastAPI + CCE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A467C-DC1E-419C-97E9-0B38CE57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81250" cy="3238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933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2F3A1D-04CD-44AC-802A-BD5BF230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44975-A743-412D-A19F-2CE4E012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8C6E8"/>
                </a:solidFill>
              </a:defRPr>
            </a:pPr>
            <a:r>
              <a:rPr sz="1575" b="1">
                <a:solidFill>
                  <a:srgbClr val="48C6E8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B604F-78D1-4B00-B5AD-DFE78A4A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Telemetry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112A4-65E1-45FA-98FA-F15FF1C1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57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BF7C58-DB09-48E3-9E28-2DC4C312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813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OpenTelemetry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742786-05D4-4B7B-A49B-27DB7AB3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957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B849A8-9579-4E06-9CFC-BF43586A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95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Prometheus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DD9DF5-1783-4E13-A790-ECCCAE6A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338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F14281-6EE3-4A7A-8625-626B2085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576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AOM + LTS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444A77-C4F1-442D-BD0B-AFC7F71D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720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8C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CC6BCF-7F46-43CE-AE2B-A790FDD2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958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Tempo + Grafana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86F676-FF8E-46BE-94AE-08833F14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381250" cy="3238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9333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A3BBAB-FD1C-4A8C-9C6D-433495FA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F14F11-CC93-42B6-B656-2873F12D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4444"/>
                </a:solidFill>
              </a:defRPr>
            </a:pPr>
            <a:r>
              <a:rPr sz="1575" b="1">
                <a:solidFill>
                  <a:srgbClr val="F04444"/>
                </a:solidFill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35C620-F8D6-468E-BD2C-1A85F3CF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Intelligence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DF2BBA-EDE5-4D90-AA27-D1A67A21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57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8B5A15-4AD6-4308-B753-A07CCC14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813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Robust z-score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2D0533-592E-493A-8528-36C1F00C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957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5EFAD5-4A44-4E63-8574-71CFD3A2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95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Isolation Forest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CFE938-1613-4C28-B10A-BA44D537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5F27AA-73E3-4950-AF0A-3912B89B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5767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Root-cause ranking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2B9C9D-D838-4527-9F3D-00191A07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720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5812F8-F189-4C69-9948-DE4BB897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SLO burn rate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F4DB32-FFC1-4CC1-BA15-FB24B8EC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571750" cy="3238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9333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3AC976-9912-4446-86CF-52C6FA4C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571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FD1E62-806A-4000-8E4A-8EB9FABE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4444"/>
                </a:solidFill>
              </a:defRPr>
            </a:pPr>
            <a:r>
              <a:rPr sz="1575" b="1">
                <a:solidFill>
                  <a:srgbClr val="F04444"/>
                </a:solidFill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3CFE13-6BEF-4DA9-911A-FEFCF979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Response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7D5F81-C7D6-469C-BB88-C34161D3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57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E015C7-F9DB-473F-9AD0-905994C0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813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Policy engine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ADBC76-D8F9-4506-9DBE-0C72273F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957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1FF3B8-48BC-4F40-B28C-E56F0B39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1952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Cooldown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7CDDE2-0ED5-44D9-99E4-DB1D1FB1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338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4F565D-EBA4-4D15-8281-24AB4F3B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5767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Namespace RBAC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9541B1-A79C-469B-98F5-B44B5888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7202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E0CD13-08B9-4401-B6F9-8472B8CD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95825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Audit + runbook</a:t>
            </a:r>
          </a:p>
        </p:txBody>
      </p:sp>
    </p:spTree>
    <p:extLst>
      <p:ext uri="{BB962C8B-B14F-4D97-AF65-F5344CB8AC3E}">
        <p14:creationId xmlns:p14="http://schemas.microsoft.com/office/powerpoint/2010/main" val="1628522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6131B-A545-49A3-958E-0A4915F8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57236-0FC3-4F87-8FBA-E6CA25E7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MICROSERVICE WORKLOAD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679B8-0EF6-416C-B622-F40792CF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The demo workload generates realistic operational behavior under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06064-7701-4B6B-A6EB-F6536D56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CEE45-4B07-4E62-B8EA-8B731630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FFF99-CB73-4E60-BF85-0A64F8EE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AD1BB-8714-41A7-9358-8EAEBAE4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24250"/>
            <a:ext cx="2095500" cy="-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A60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072E9-5612-4AAD-B36B-51EAE0F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76500"/>
            <a:ext cx="209550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A60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F33CF-260A-44A9-A9A2-60A7304F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26807-547A-4E8A-B9C8-F12B4AA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95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ORDERS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7E495-0B67-4D3D-A653-2ADF3D15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Idempotency • retry • orchestration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A7B35-587A-43A6-A2F7-094CE3D1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2857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154DE-C02A-47CD-961F-0E3C23A0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8C6E8"/>
                </a:solidFill>
              </a:defRPr>
            </a:pPr>
            <a:r>
              <a:rPr sz="2025" b="1">
                <a:solidFill>
                  <a:srgbClr val="48C6E8"/>
                </a:solidFill>
              </a:rPr>
              <a:t>CATALOG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8B9C9-BA0D-4CDE-BEB3-D39AD85E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Product and inventory reservation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2D98A-3CB6-4EA2-A0DA-7DFF57AE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857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B0E18-4C62-49F1-AAC1-3E680CAE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8C6E8"/>
                </a:solidFill>
              </a:defRPr>
            </a:pPr>
            <a:r>
              <a:rPr sz="2025" b="1">
                <a:solidFill>
                  <a:srgbClr val="48C6E8"/>
                </a:solidFill>
              </a:rPr>
              <a:t>PAYMENTS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05935-2811-4A80-A3EF-8FB8FF11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Deterministic payment simulator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B5874-07EF-4BED-96EE-BAD9DB3D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09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7412F-00F6-42A1-BCF0-B9C6D6BA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OBSERVABLE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A8E22-24E8-4137-B00B-7843D1B3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863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D17C"/>
                </a:solidFill>
              </a:defRPr>
            </a:pPr>
            <a:r>
              <a:rPr sz="2850" b="1">
                <a:solidFill>
                  <a:srgbClr val="31D17C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CA018-B92D-4E8A-ABF7-DCD9A13B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2095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7DB67-8AAB-4CA9-A735-B7D95769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BUSINESS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42A47-1226-4665-967C-DF1ADCB6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720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6E8"/>
                </a:solidFill>
              </a:defRPr>
            </a:pPr>
            <a:r>
              <a:rPr sz="2850" b="1">
                <a:solidFill>
                  <a:srgbClr val="48C6E8"/>
                </a:solidFill>
              </a:rPr>
              <a:t>E2E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D1444-8943-4B81-A578-E893B646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5681F7-32B2-46EE-BBF4-E105A7F6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FAULT PROFILE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ED17C3-5D3C-4B0C-84E8-6AF45A3F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720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4834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AB7952-27C8-4FBA-8915-0094AB69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8B0A5-30B2-4699-BEAE-B20FA3CC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OBSERVABILITY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92013-F896-4FD5-A064-DD780E2E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Portable telemetry connects local tooling with Huawei Cloud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BF36E-9711-414E-BF1E-362EDAF0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9BCEA-0445-4E95-9D8B-E675DF41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9C6F7-9350-4A20-8A9F-49F088DB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71692-D3FC-42BF-BA13-C04774B2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86125"/>
            <a:ext cx="3619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83A41-3AB8-4F8D-B43E-7FE15635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286000" cy="2476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01592-1DF0-4376-A32D-69A6F362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C6E8"/>
                </a:solidFill>
              </a:defRPr>
            </a:pPr>
            <a:r>
              <a:rPr sz="1500" b="1">
                <a:solidFill>
                  <a:srgbClr val="48C6E8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4109E-5814-487A-92FA-C739E020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Instrumentation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E30B8-BE42-4AF7-8F13-F5A0DB6E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FastAPI + HTTPX</a:t>
            </a:r>
          </a:p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OpenTelemetry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069C1-6982-43EE-808E-15C9CF45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86125"/>
            <a:ext cx="3619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AAA7A-B736-4613-B429-00D90112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286000" cy="2476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64A9F-3BEA-4A4D-8759-D6ED48A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C6E8"/>
                </a:solidFill>
              </a:defRPr>
            </a:pPr>
            <a:r>
              <a:rPr sz="1500" b="1">
                <a:solidFill>
                  <a:srgbClr val="48C6E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9DEF1-956A-4E79-9434-9AADA3AC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860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Collection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A15D1-9542-450E-A4C0-63F640E0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OTLP Collector</a:t>
            </a:r>
          </a:p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resource enrichment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4C0D7-8099-46D4-93EE-1B4D0D03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86125"/>
            <a:ext cx="3619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77458-834E-4940-907D-796063B6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286000" cy="2476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1F65C-E3B6-42E6-AD26-7424866B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4444"/>
                </a:solidFill>
              </a:defRPr>
            </a:pPr>
            <a:r>
              <a:rPr sz="1500" b="1">
                <a:solidFill>
                  <a:srgbClr val="F04444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5811B-52AB-42FB-A4C6-4A44CD6A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860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C95CB-C805-422A-8C6C-2ED2DB58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Prometheus + Tempo</a:t>
            </a:r>
          </a:p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AOM + LTS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959B2-3F7F-4AC1-9F0D-4D390B81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286000" cy="2476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0F37B-41CD-4901-9A2F-1C9759FF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4444"/>
                </a:solidFill>
              </a:defRPr>
            </a:pPr>
            <a:r>
              <a:rPr sz="1500" b="1">
                <a:solidFill>
                  <a:srgbClr val="F04444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323C1-4C72-4C1F-A863-4EA1D12E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860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Consumption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F41F73-C3AF-4F08-AF03-01907BA6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Grafana + alerts</a:t>
            </a:r>
          </a:p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SLO + AIOps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7BF2F5-7B70-450B-803C-950670E0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Application code stays backend-neutral; routing changes at the collector.</a:t>
            </a:r>
          </a:p>
        </p:txBody>
      </p:sp>
    </p:spTree>
    <p:extLst>
      <p:ext uri="{BB962C8B-B14F-4D97-AF65-F5344CB8AC3E}">
        <p14:creationId xmlns:p14="http://schemas.microsoft.com/office/powerpoint/2010/main" val="1129692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E1FFCD-7970-4862-B587-A85A5E4B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BF881-4A2D-460E-B418-BFAE682E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AIOPS DETECTION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BC2ED-4148-43AB-98EF-00B2E46E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The hybrid model combines explainable statistics with pattern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0F876-E671-4B34-9647-3052BA4D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B44FD-76B2-434A-A11E-2640B186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5A2A0-9B61-4963-BFAD-A9F112DA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32528-7764-4315-9FEA-6DD48A84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7348F-FC8C-4FB7-926D-DB694351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48C6E8"/>
                </a:solidFill>
              </a:defRPr>
            </a:pPr>
            <a:r>
              <a:rPr sz="4650" b="1">
                <a:solidFill>
                  <a:srgbClr val="48C6E8"/>
                </a:solidFill>
              </a:rPr>
              <a:t>65%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CC15B-EBD4-43A7-BC6B-A39B66CA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Robust deviation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4ECD5-FCA3-4D30-BEF7-F99D4779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Median + MAD</a:t>
            </a:r>
          </a:p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Resistant to outliers</a:t>
            </a:r>
          </a:p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Human-readable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D83EA-5C92-44BE-94E5-69D2EAD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762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3E060-3710-4C0B-82F6-C40FDB22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04444"/>
                </a:solidFill>
              </a:defRPr>
            </a:pPr>
            <a:r>
              <a:rPr sz="4650" b="1">
                <a:solidFill>
                  <a:srgbClr val="F04444"/>
                </a:solidFill>
              </a:rPr>
              <a:t>35%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7C4F5-49A8-40C1-9DE4-21B9206E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Isolation Forest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223D8-B332-4463-9C85-1E2A4F90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Value + rate of change</a:t>
            </a:r>
          </a:p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Unsupervised pattern detection</a:t>
            </a:r>
          </a:p>
          <a:p xmlns:a="http://schemas.openxmlformats.org/drawingml/2006/main">
            <a:pPr algn="l">
              <a:defRPr sz="1575" b="0">
                <a:solidFill>
                  <a:srgbClr val="9AA6B2"/>
                </a:solidFill>
              </a:defRPr>
            </a:pPr>
            <a:r>
              <a:rPr sz="1575" b="0">
                <a:solidFill>
                  <a:srgbClr val="9AA6B2"/>
                </a:solidFill>
              </a:rPr>
              <a:t>Deterministic random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90BB6-4CA9-4939-B7CB-5402AEC9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90875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2B2BC-0BFF-4D4B-B62F-61B910F5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337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COMBINED</a:t>
            </a:r>
          </a:p>
          <a:p xmlns:a="http://schemas.openxmlformats.org/drawingml/2006/main">
            <a:pPr algn="ctr">
              <a:defRPr sz="1500" b="1">
                <a:solidFill>
                  <a:srgbClr val="F6C453"/>
                </a:solidFill>
              </a:defRPr>
            </a:pPr>
            <a:r>
              <a:rPr sz="1500" b="1">
                <a:solidFill>
                  <a:srgbClr val="F6C453"/>
                </a:solidFill>
              </a:rPr>
              <a:t>SCORE</a:t>
            </a:r>
          </a:p>
        </p:txBody>
      </p:sp>
    </p:spTree>
    <p:extLst>
      <p:ext uri="{BB962C8B-B14F-4D97-AF65-F5344CB8AC3E}">
        <p14:creationId xmlns:p14="http://schemas.microsoft.com/office/powerpoint/2010/main" val="632710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070459-7DDE-4BA3-96CA-6DFB054A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E7C7C-080C-4E36-8038-AB439587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ANOMALY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5F8B7-645A-4AC5-A95C-FB761C40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Synthetic replay makes the critical departure from normal behavior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2EFBA-ED5E-482C-8D0C-B81809FC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A28A5-7365-4D34-9419-178D3175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32EC9-F1B5-4D6E-84A8-D13734D6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E424C-1445-429A-8CD7-88A929EC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7429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6953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891706b97c476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8527F-83D7-4132-9E36-7310F623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E584D-0A36-49DA-A434-51A1EE9E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COMBINED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D9CE4-8304-460C-8359-81779CB8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050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0.91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E6FA3-B038-42A3-908B-1DE7FC99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06AA9-815C-4DB0-BA3D-9FFC8204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SEVERITY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39006-F212-4DB0-9A39-4D4F4DCA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CRITICAL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A66DA-3F87-4676-8980-9C27F89E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2D0D9-6739-4A3A-9705-D3EB97E3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14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BASELINE MEDIAN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37E38-874F-44A3-BEC1-D60F06D4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720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6E8"/>
                </a:solidFill>
              </a:defRPr>
            </a:pPr>
            <a:r>
              <a:rPr sz="2850" b="1">
                <a:solidFill>
                  <a:srgbClr val="48C6E8"/>
                </a:solidFill>
              </a:rPr>
              <a:t>0.21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CC365-1E67-4806-AC75-5516A917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343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73557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17CF3E-7237-46ED-BA0C-EA0B5F37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D90BD-340C-47A2-BBEA-ADFCB3D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EXPLAINABLE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9AFD7-42E2-4CCC-A0F6-4171BEA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Root-cause ranking uses correlated evidence, not a single alert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EEC08-B3DB-4CFB-BE91-2DA1B814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8BA9C-BE8E-4AE3-8E61-2259F97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32800-1EB6-4D57-A31E-22F7A6C1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F3CF4-A0A6-409C-9BD2-4D8A8E08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ADA24-10C2-4E67-B588-E7A4C476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098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7CBA9-770E-4A9A-BDD6-81279A84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717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CPU saturation and insufficient replicas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A1FBF-93D1-491D-8DBE-7E532AB8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527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CPU + p95 latency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B3521-3FC1-4C01-9E74-846C3AE4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4765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D87D9-B76A-4CCE-A7DB-8A157098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25361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C1DA9-B0B5-4B28-9D3F-160AE804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04444"/>
                </a:solidFill>
              </a:defRPr>
            </a:pPr>
            <a:r>
              <a:rPr sz="2100" b="1">
                <a:solidFill>
                  <a:srgbClr val="F04444"/>
                </a:solidFill>
              </a:rPr>
              <a:t>0.91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0EEB5-15EB-4644-AAFB-23E3E307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47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584D0-70BC-4A4F-998B-5AB606A0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0042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A94DA-A37E-422A-B405-8E4C8F8E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623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Database pool pressure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438AB-7040-4FAA-A1BE-FDD1D946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4332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Pool + p95 latency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1499A-C1E4-4D3D-BE54-DCDD6150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71875"/>
            <a:ext cx="24765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31508-341B-4898-A67A-04723452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71875"/>
            <a:ext cx="183261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95D79-9DA6-4B22-865D-7E1B54FE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575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6C453"/>
                </a:solidFill>
              </a:defRPr>
            </a:pPr>
            <a:r>
              <a:rPr sz="2100" b="1">
                <a:solidFill>
                  <a:srgbClr val="F6C453"/>
                </a:solidFill>
              </a:rPr>
              <a:t>0.74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42030-AE46-40E5-B486-047BA1B1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047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9B4EC-8FCA-4D05-8541-8A9C27FD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910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F6B78"/>
                </a:solidFill>
              </a:defRPr>
            </a:pPr>
            <a:r>
              <a:rPr sz="2850" b="1">
                <a:solidFill>
                  <a:srgbClr val="5F6B7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7C064-1C8A-40EA-9B25-2EEA8ABE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529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Unstable application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DD73F-67A6-4A2A-A73A-3A4AECF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339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Restarts + error 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1B6ED-63A1-48FA-8D20-123FF38F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24765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30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92F2A-A95F-4277-8A90-2B8FFB4B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104013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F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DB0C68-09FF-4E72-AB44-A8B7FA5E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5F6B78"/>
                </a:solidFill>
              </a:defRPr>
            </a:pPr>
            <a:r>
              <a:rPr sz="2100" b="1">
                <a:solidFill>
                  <a:srgbClr val="5F6B78"/>
                </a:solidFill>
              </a:rPr>
              <a:t>0.42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63198A-3909-4171-9564-8260E906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AA6B2"/>
                </a:solidFill>
              </a:defRPr>
            </a:pPr>
            <a:r>
              <a:rPr sz="1725" b="1">
                <a:solidFill>
                  <a:srgbClr val="9AA6B2"/>
                </a:solidFill>
              </a:rPr>
              <a:t>Incomplete evidence produces no hypothesis; low confidence blocks action.</a:t>
            </a:r>
          </a:p>
        </p:txBody>
      </p:sp>
    </p:spTree>
    <p:extLst>
      <p:ext uri="{BB962C8B-B14F-4D97-AF65-F5344CB8AC3E}">
        <p14:creationId xmlns:p14="http://schemas.microsoft.com/office/powerpoint/2010/main" val="17915652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23ED2F-C400-45F1-AF06-E3DB8F1F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F2EE0-744A-4D16-B926-69E35F3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RELIABILITY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52185-8BB6-4436-AFE4-814DAB2F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SLOs and error budgets connect alerting to customer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FF2E8-B302-4A90-8B13-B3058A87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90855-9B19-4EE8-9042-ECB3FA6B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E5CB5-4069-422A-963E-7B95FD5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BA56B-CD82-4739-A22E-B7B20327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1D17C"/>
                </a:solidFill>
              </a:defRPr>
            </a:pPr>
            <a:r>
              <a:rPr sz="6300" b="1">
                <a:solidFill>
                  <a:srgbClr val="31D17C"/>
                </a:solidFill>
              </a:rPr>
              <a:t>99.9%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91474-3CF3-4397-B42B-98CE0FA3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30-day availability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872F6-9EF9-47F4-A735-EC33CA6E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AA6B2"/>
                </a:solidFill>
              </a:defRPr>
            </a:pPr>
            <a:r>
              <a:rPr sz="1650" b="0">
                <a:solidFill>
                  <a:srgbClr val="9AA6B2"/>
                </a:solidFill>
              </a:rPr>
              <a:t>≈ 1,000 failed requests allowed per 1,000,000 requests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767F4-3963-4017-8424-8C565065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238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5D3E5-D45E-462A-B92F-0BCCA305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A6B2"/>
                </a:solidFill>
              </a:defRPr>
            </a:pPr>
            <a:r>
              <a:rPr sz="1275" b="1">
                <a:solidFill>
                  <a:srgbClr val="9AA6B2"/>
                </a:solidFill>
              </a:rPr>
              <a:t>ERROR BUDGET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9454C-F067-4929-BCAD-27C159B4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447675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AE5C0-13F4-4CF6-9040-02980267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3352800" cy="3619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4378D-D946-419C-B0FD-4A01AA61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528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D17C"/>
                </a:solidFill>
              </a:defRPr>
            </a:pPr>
            <a:r>
              <a:rPr sz="2250" b="1">
                <a:solidFill>
                  <a:srgbClr val="31D17C"/>
                </a:solidFill>
              </a:rPr>
              <a:t>75% remaining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CBFF6-EE96-4E7B-80AB-D80C653E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528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6C453"/>
                </a:solidFill>
              </a:defRPr>
            </a:pPr>
            <a:r>
              <a:rPr sz="1650" b="1">
                <a:solidFill>
                  <a:srgbClr val="F6C453"/>
                </a:solidFill>
              </a:rPr>
              <a:t>250 consumed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EB3BE-291C-47B5-94C6-F2F9539A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19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0EA6E-9407-43C6-80B5-653A156C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43375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14.4× fast burn → critical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9EC85-37D2-4968-86E5-77CA435A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672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328DC-B314-4EE2-AA36-B1127AD9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9105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3× slow burn → warning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87E2C-00B3-4770-9E7E-F631962D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The alert asks whether reliability risk is urgent—not merely whether a metric moved.</a:t>
            </a:r>
          </a:p>
        </p:txBody>
      </p:sp>
    </p:spTree>
    <p:extLst>
      <p:ext uri="{BB962C8B-B14F-4D97-AF65-F5344CB8AC3E}">
        <p14:creationId xmlns:p14="http://schemas.microsoft.com/office/powerpoint/2010/main" val="5003291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77281A-7183-487A-82F0-2F378752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F21A1-BFD4-4AB1-8C11-37DB820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GRAFANA • EXECUTIVE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E31D4-CAF0-42D9-9044-53341BD7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The executive view compresses health and risk into one operating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E33C3-2A93-4A98-9431-DE0E8A43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27173-F235-4B79-87E0-C2E35874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FA299-04B4-411B-BEBD-4EA5A079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C0A39-E957-4200-B795-A212A352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D1118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9CAB6-5A01-4DCD-8220-751F6131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1C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EAF1F-1F63-4072-89BE-20520A6D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8"/>
                </a:solidFill>
              </a:defRPr>
            </a:pPr>
            <a:r>
              <a:rPr sz="1050" b="0">
                <a:solidFill>
                  <a:srgbClr val="5F6B78"/>
                </a:solidFill>
              </a:rPr>
              <a:t>●  ●  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4A045-73DC-452E-8645-F043B059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57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HUAWEI CLOUD AIOPS — EXECUTIVE 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66D2D-32EA-408A-A65A-F0206358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76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6B2"/>
                </a:solidFill>
              </a:defRPr>
            </a:pPr>
            <a:r>
              <a:rPr sz="900" b="1">
                <a:solidFill>
                  <a:srgbClr val="9AA6B2"/>
                </a:solidFill>
              </a:rPr>
              <a:t>LAST 6 HOURS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92792-6685-453A-9F98-9483A7D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7069B-A031-4A21-9612-DD886FDB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AVAILABILITY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11830-94AF-4978-BBF9-F1E5D70E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D17C"/>
                </a:solidFill>
              </a:defRPr>
            </a:pPr>
            <a:r>
              <a:rPr sz="2850" b="1">
                <a:solidFill>
                  <a:srgbClr val="31D17C"/>
                </a:solidFill>
              </a:rPr>
              <a:t>99.94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E5F22-5B68-455C-84C0-BEDD23AA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57730-993C-4181-BBDB-14FFEF52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CE4D8-C906-46FE-81A4-B05074DA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P95 LATENCY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BC0A3-E143-4D4B-AA94-D5D9C175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412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F34E8-72C0-4803-A921-47E3FB1C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24084-EDE6-497A-B217-BE60403E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74180-DEAE-4080-B9B4-D63ED108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ACTIVE INCIDENTS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6FFF3E-7A96-4669-993F-A038F94A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94A87-5B69-4570-A1F5-86858ED5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76A8A-2549-403C-B3B3-9363069B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RISK 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0214B-2D59-48E5-8904-29B1788B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0.71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5F8B4-C790-477E-A339-CA11B68C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C32E73-7F3F-412A-8A44-1C65B373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SERVICE TRAFFIC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9C7F6-2457-4C7A-ABD2-37319DB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62575"/>
            <a:ext cx="415636" cy="-187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5CF14-00A3-4A48-B8FA-E65CB521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761" y="5175006"/>
            <a:ext cx="415636" cy="9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D156D-DFDF-49A0-87A2-AA84E9FA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398" y="5268790"/>
            <a:ext cx="415636" cy="-328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504333-5CE9-42A8-A82C-56514096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034" y="4940544"/>
            <a:ext cx="415636" cy="9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FD60E5-91F5-4142-B206-F985292A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670" y="5034329"/>
            <a:ext cx="415636" cy="-281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F2096-4196-4717-9B96-C24007F9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307" y="4752975"/>
            <a:ext cx="415636" cy="937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3E54B9-360C-437A-BFFE-519E6810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943" y="4846760"/>
            <a:ext cx="415636" cy="-281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F83794-650C-464F-BEB4-AD42E932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80" y="4565406"/>
            <a:ext cx="415636" cy="-328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8F7821-41D4-4102-B7F7-572BDF50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216" y="4237160"/>
            <a:ext cx="415636" cy="187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F60785-39EB-4410-A5B2-8DD01688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852" y="4424729"/>
            <a:ext cx="415636" cy="-281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DC0A48-A9EC-4576-867B-B7F63549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489" y="4143375"/>
            <a:ext cx="415636" cy="1875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8C6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8FBDE1-564F-4EDB-9B14-BA30BD22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5143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31F35E-EAE5-46DD-ADF6-46832B80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829050"/>
            <a:ext cx="483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ANOMALY INTELLIGENCE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3CE298-B055-4560-B075-5A054298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62575"/>
            <a:ext cx="432955" cy="-17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7E5606-F525-4458-9725-43635AF9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830" y="5344905"/>
            <a:ext cx="432955" cy="17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B02221-1370-43BB-A47B-D8664C79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784" y="5362575"/>
            <a:ext cx="432955" cy="-353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C295E5-E0D1-4E27-80D1-EF23784B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739" y="5327236"/>
            <a:ext cx="432955" cy="-17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844F74-CEF1-4A2E-9B47-6D35E3F4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693" y="5309566"/>
            <a:ext cx="432955" cy="17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75C1E2-FCFE-4291-849C-DE1788EE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648" y="5327236"/>
            <a:ext cx="432955" cy="-70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6A570B-8294-495C-9EF4-1CA5A96A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602" y="5256558"/>
            <a:ext cx="432955" cy="-70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0206E6-C86E-4E35-A58F-901697F1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557" y="5185879"/>
            <a:ext cx="432955" cy="-1060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E9F931-1C42-4679-92FC-46E40C75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511" y="5079862"/>
            <a:ext cx="432955" cy="-2120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950F59-0713-4A01-AE91-3378EED8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466" y="4867827"/>
            <a:ext cx="432955" cy="-7244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9BFB1A-4AA3-4393-88E8-B7860A9A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420" y="4143375"/>
            <a:ext cx="432955" cy="3357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30332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97FEB4-448B-4701-98DA-4A903776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6FF26-43C4-4495-9C20-1E5DD07B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GRAFANA • SLO AND ERROR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F5748-7003-4BD2-BEC4-746A794D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The SLO view tracks budget consumption across fast and slow burn windows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73CC7-81F8-4CB4-9728-AF85E1E7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411A9-A93A-43AA-B0D8-A592FF42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EA4E2-B720-4020-AD9D-CF602980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80B24-4864-4773-B167-9F4E24F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D1118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4CD2E-48F5-4C14-9D8F-0ABF1ADC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1C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E55B0-BB59-4A52-9D26-8C2D3364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8"/>
                </a:solidFill>
              </a:defRPr>
            </a:pPr>
            <a:r>
              <a:rPr sz="1050" b="0">
                <a:solidFill>
                  <a:srgbClr val="5F6B78"/>
                </a:solidFill>
              </a:rPr>
              <a:t>●  ●  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C8E3F-80B4-49B0-BDFD-E9488E9A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57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HUAWEI CLOUD AIOPS — SLO &amp; ERROR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1F63D-EC89-4C03-8C33-C5F8EC33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76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6B2"/>
                </a:solidFill>
              </a:defRPr>
            </a:pPr>
            <a:r>
              <a:rPr sz="900" b="1">
                <a:solidFill>
                  <a:srgbClr val="9AA6B2"/>
                </a:solidFill>
              </a:rPr>
              <a:t>LAST 6 HOURS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D6483-E671-43AC-8FA5-BCD0FB74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AB8FE-A08C-471D-9269-60764EA9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86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1D17C"/>
                </a:solidFill>
              </a:defRPr>
            </a:pPr>
            <a:r>
              <a:rPr sz="3600" b="1">
                <a:solidFill>
                  <a:srgbClr val="31D17C"/>
                </a:solidFill>
              </a:rPr>
              <a:t>0.82×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DB5AD-E6B5-4C5C-BDC9-C2979846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A6B2"/>
                </a:solidFill>
              </a:defRPr>
            </a:pPr>
            <a:r>
              <a:rPr sz="1275" b="1">
                <a:solidFill>
                  <a:srgbClr val="9AA6B2"/>
                </a:solidFill>
              </a:rPr>
              <a:t>Budget burn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6787B-C7E8-4964-99EE-D2CFECFB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3143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D943F-1FE0-4D53-BBC7-21882F60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86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6C453"/>
                </a:solidFill>
              </a:defRPr>
            </a:pPr>
            <a:r>
              <a:rPr sz="3600" b="1">
                <a:solidFill>
                  <a:srgbClr val="F6C453"/>
                </a:solidFill>
              </a:rPr>
              <a:t>412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EB906-094A-4D82-BA7F-C06A7A54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A6B2"/>
                </a:solidFill>
              </a:defRPr>
            </a:pPr>
            <a:r>
              <a:rPr sz="1275" b="1">
                <a:solidFill>
                  <a:srgbClr val="9AA6B2"/>
                </a:solidFill>
              </a:rPr>
              <a:t>p95 latency SLO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2AC19-897E-4D8C-A52F-AD1F86C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3524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50C74-D684-46B4-A5A2-2A0861FA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860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1D17C"/>
                </a:solidFill>
              </a:defRPr>
            </a:pPr>
            <a:r>
              <a:rPr sz="3600" b="1">
                <a:solidFill>
                  <a:srgbClr val="31D17C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9C88C-4585-4C72-83D3-7A84D143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A6B2"/>
                </a:solidFill>
              </a:defRPr>
            </a:pPr>
            <a:r>
              <a:rPr sz="1275" b="1">
                <a:solidFill>
                  <a:srgbClr val="9AA6B2"/>
                </a:solidFill>
              </a:rPr>
              <a:t>Active SLO alerts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F275E-4E25-4776-80CB-24F0B2DA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2CE0C-5EAA-42CD-A076-5A3F8F57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100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ERROR BUDGET CONSUMPTION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9F023-F720-4008-8BE4-8B3161DC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9049"/>
            <a:ext cx="508000" cy="735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1C12C-2FAC-4D7D-8970-0CDF54EE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125" y="5362575"/>
            <a:ext cx="508000" cy="-2205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EA4795-0943-44AC-9F7F-20A5D1F2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125" y="5141996"/>
            <a:ext cx="508000" cy="735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018231-3364-4819-B2EC-629F9394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15522"/>
            <a:ext cx="508000" cy="-3676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634E1D-87D8-4388-8FE0-E57D6FB9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25" y="4847891"/>
            <a:ext cx="508000" cy="-1470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1AA6B-AF08-459D-92C2-56ED27FB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125" y="4700838"/>
            <a:ext cx="508000" cy="2205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AB46D-D45D-49BA-8CF7-ACDD358A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21417"/>
            <a:ext cx="508000" cy="-3970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2BD25-C1F2-45CB-8061-FD4CA3DE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125" y="4524375"/>
            <a:ext cx="508000" cy="2499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CD8A1F-C723-42F6-A307-F9492EFB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5" y="4774364"/>
            <a:ext cx="508000" cy="-735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D17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E4B1A1-781B-4894-8F12-1D81A284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9575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1CF181-8810-4D19-9648-697EE5B1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10050"/>
            <a:ext cx="483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SERVICE p95 LATENCY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A6413-77A2-47FF-9EB3-D7EE22CE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62575"/>
            <a:ext cx="529167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AB6F55-3090-4E8F-ABC2-58789B33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042" y="5286375"/>
            <a:ext cx="529167" cy="-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E20DBB-CCBF-4427-B47E-E35B1AEC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208" y="5172075"/>
            <a:ext cx="529167" cy="-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44A230-C986-47DF-A4B6-29888B46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375" y="4981575"/>
            <a:ext cx="529167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D03CE5-99EC-493C-898D-B5E19521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542" y="5057775"/>
            <a:ext cx="529167" cy="-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7C382E-899B-4348-9876-23C95AC9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708" y="4791075"/>
            <a:ext cx="529167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CC42A5-7E98-4685-A4B8-43B7C58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4562475"/>
            <a:ext cx="529167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1EE2A6-B870-4014-9346-51B1921C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042" y="4714875"/>
            <a:ext cx="529167" cy="-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BF8F1D-64A8-4B94-8001-29869828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208" y="4524375"/>
            <a:ext cx="529167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45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36766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84E5C-64A9-4460-8241-C66E2F91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F4CC1-A1EC-4F54-A7C3-3D8E6CF1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GRAFANA • INCIDENT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70CD4-6427-4955-A009-BC88B7DE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Incident intelligence links anomaly, action outcome, and business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DD467-CCAB-4034-AC60-64D0117E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D31AD-1557-4A91-8401-00AD1805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F0F63-EC40-4495-A933-4EC1C186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3D557-3B6B-4DB6-AC05-0A7FD15B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D1118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3AD28-1C15-4F84-98F8-E78BA7E0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51C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9AA77-BFE6-46CC-85C3-2346942F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8"/>
                </a:solidFill>
              </a:defRPr>
            </a:pPr>
            <a:r>
              <a:rPr sz="1050" b="0">
                <a:solidFill>
                  <a:srgbClr val="5F6B78"/>
                </a:solidFill>
              </a:rPr>
              <a:t>●  ●  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BD1CE-1FD8-4B7C-8B22-FBAEEFEE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57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</a:defRPr>
            </a:pPr>
            <a:r>
              <a:rPr sz="1275" b="1">
                <a:solidFill>
                  <a:srgbClr val="F4F7FB"/>
                </a:solidFill>
              </a:rPr>
              <a:t>HUAWEI CLOUD AIOPS — INCIDENT 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BC021-AA95-4D61-A91D-E0A92C4B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76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6B2"/>
                </a:solidFill>
              </a:defRPr>
            </a:pPr>
            <a:r>
              <a:rPr sz="900" b="1">
                <a:solidFill>
                  <a:srgbClr val="9AA6B2"/>
                </a:solidFill>
              </a:rPr>
              <a:t>LAST 6 HOURS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2EF54-862E-47D2-9F29-5EA511C8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A6319-4271-4E1C-B477-AA8538D9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OPEN INCIDENTS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B8F5C-7A96-4A05-BD73-3A120331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54FF9-B1F3-4F75-BE78-C1219ECD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E581D-054C-4062-8F6F-BB49D0E3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CURRENT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59200-1AA9-4851-AF1B-827298D1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4444"/>
                </a:solidFill>
              </a:defRPr>
            </a:pPr>
            <a:r>
              <a:rPr sz="2850" b="1">
                <a:solidFill>
                  <a:srgbClr val="F04444"/>
                </a:solidFill>
              </a:rPr>
              <a:t>0.91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E9FF0-8693-460A-BBCB-BECA8F21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A1B92-B642-423A-8F64-FBFB8B01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ACTION 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0E38A-1109-4D1B-8FB3-2409BADE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D17C"/>
                </a:solidFill>
              </a:defRPr>
            </a:pPr>
            <a:r>
              <a:rPr sz="2850" b="1">
                <a:solidFill>
                  <a:srgbClr val="31D17C"/>
                </a:solidFill>
              </a:rPr>
              <a:t>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253A9-9892-4235-9897-19D33EFB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6BDE8-48D7-4411-BFB7-8E7D1EB4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CB4AB-27B7-4CD1-91ED-04635370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GUARDRAIL BLOCKS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725501-08EE-4AB5-9754-991858EA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908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F1AFD7-D0EB-4621-A2AD-027DF77F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685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AE2C46-E48D-4F81-8C54-330FB96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655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ANOMALY TIMELINE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E75A48-B20B-4DBE-A349-E8F0CDA1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47707"/>
            <a:ext cx="588818" cy="-148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B47E0-8748-4835-902B-05BCD5DD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943" y="5332838"/>
            <a:ext cx="588818" cy="29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FEFDD8-57FA-4C31-8BE4-B0DED8D0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761" y="5362575"/>
            <a:ext cx="588818" cy="-892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590C0A-9B15-4D91-99B1-4B921156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580" y="5273365"/>
            <a:ext cx="588818" cy="29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EBD9A6-99B3-4DBC-A4A7-B9786EB1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398" y="5303102"/>
            <a:ext cx="588818" cy="-1040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88D975-9C02-45F6-8CE4-642776A0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216" y="5199024"/>
            <a:ext cx="588818" cy="297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AAF022-4372-4260-9265-A2219426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034" y="5228760"/>
            <a:ext cx="588818" cy="-2527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5949F8-4A47-4AA9-9AC5-A0112A8A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852" y="4975999"/>
            <a:ext cx="588818" cy="-3717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CB1B32-E44F-4859-931F-E9741136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670" y="4604292"/>
            <a:ext cx="588818" cy="-460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5356F8-46DC-4FDD-8CC0-FFDFB33C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489" y="4143375"/>
            <a:ext cx="588818" cy="4906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A8785A-FF9B-441C-ABD7-4229DF7F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307" y="4634029"/>
            <a:ext cx="588818" cy="416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444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528F73-93DC-42CF-A8A6-9F8008E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928B12-EA1A-4F11-981F-F0423D74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86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A6B2"/>
                </a:solidFill>
              </a:defRPr>
            </a:pPr>
            <a:r>
              <a:rPr sz="1125" b="1">
                <a:solidFill>
                  <a:srgbClr val="9AA6B2"/>
                </a:solidFill>
              </a:rPr>
              <a:t>AUTOMATION OUTCOME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5084EF-B08F-4782-9268-37957EF4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33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D17C"/>
                </a:solidFill>
              </a:defRPr>
            </a:pPr>
            <a:r>
              <a:rPr sz="2550" b="1">
                <a:solidFill>
                  <a:srgbClr val="31D17C"/>
                </a:solidFill>
              </a:rPr>
              <a:t>SCALE +1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AE1C1A-E6C8-4673-A2D1-30410631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dry-run • policy passed</a:t>
            </a:r>
          </a:p>
        </p:txBody>
      </p:sp>
    </p:spTree>
    <p:extLst>
      <p:ext uri="{BB962C8B-B14F-4D97-AF65-F5344CB8AC3E}">
        <p14:creationId xmlns:p14="http://schemas.microsoft.com/office/powerpoint/2010/main" val="8876442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DE88A2-D056-438D-B387-3F8CCEDC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6408F-A8D4-4256-8930-3A4B8F2A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POLICY AND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11512-FF65-4A3C-ACF0-77902FD7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Automation prioritizes reversibility and containment over speed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4B36C-2A93-4B74-BFBC-596C4828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3AA32-3D69-4763-BFD4-D71F0B58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758D1-E440-4084-952F-1EB0641C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C7317-A493-4B3E-8A1B-D70837AC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86125"/>
            <a:ext cx="428625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C7414-C0E3-41DC-82D4-530398E0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905000" cy="223837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8FCF6-12D3-48EC-B889-821C248F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80A91-1308-4D0B-8B40-C2872425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A21E9-C457-43EC-A39F-5D0F706E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Are all required signals present?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B6E69-7873-4E13-B7B2-0EFFC345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428625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BF5F5-EF11-4BB9-9C71-B465BFB0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33625"/>
            <a:ext cx="1905000" cy="223837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EEFEA-4930-42DC-88A0-22A904CD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51484-6C41-4AEE-A604-9763CEF5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146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CD9D1-3620-4AB3-9BBD-CA83B714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1950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Does the hypothesis clear its threshold?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5DE24-DC4A-4F83-8A50-9B2157BD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428625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AAA35-AD62-4632-8EA0-8B319EC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1905000" cy="223837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4B9A8-CF08-420B-BFAC-4B057588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7F22C-45B1-489D-B30D-530478A4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146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C9CB3B-8455-478D-A8FE-3445AC96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1950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Is the action low or medium risk?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57458-9183-4C44-97B0-1DA64C83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428625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F1C2A-F3E4-468C-B41F-24252B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33625"/>
            <a:ext cx="1905000" cy="223837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6D7874-10FA-43AF-ABD1-A5B20520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354E3-F8E3-4E11-B230-1A20D4D4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146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Authority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1B0BBA-A72B-4775-A5C2-698BDEF3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950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Do allow-list and RBAC permit it?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85006-24D4-45CB-9CEE-C67CF9B2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905000" cy="2238375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31D1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909388-4767-4051-9171-6A00AF4F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24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D17C"/>
                </a:solidFill>
              </a:defRPr>
            </a:pPr>
            <a:r>
              <a:rPr sz="2250" b="1">
                <a:solidFill>
                  <a:srgbClr val="31D17C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34E86A-C0B7-4E68-80FD-620FE03A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146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Cooldown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D5A3C7-14AC-4760-8456-D35B0B86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19500"/>
            <a:ext cx="1562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Is repeated action suppressed?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13682E-BF62-4BAE-B6CB-988A46C7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9DBEA1-62E6-4ABF-BE4B-7BB168E0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04444"/>
                </a:solidFill>
              </a:defRPr>
            </a:pPr>
            <a:r>
              <a:rPr sz="1875" b="1">
                <a:solidFill>
                  <a:srgbClr val="F04444"/>
                </a:solidFill>
              </a:rPr>
              <a:t>Rollback is high risk → it is recommended, never auto-executed.</a:t>
            </a:r>
          </a:p>
        </p:txBody>
      </p:sp>
    </p:spTree>
    <p:extLst>
      <p:ext uri="{BB962C8B-B14F-4D97-AF65-F5344CB8AC3E}">
        <p14:creationId xmlns:p14="http://schemas.microsoft.com/office/powerpoint/2010/main" val="1795277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AA5BD6-3F71-41C3-9FA5-3B2015C4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16AE5-CD8D-46EE-9666-EEBE3BCD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INCIDENT 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3816C-2D48-4A6F-A70E-34FFC3A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One incident replay exercises the full chain from detection to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FC01C-454B-4BBE-A23C-66A95A90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EE927-41ED-4B64-BA0C-16BBD99C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C117F-4A42-4FAF-A05D-E2827113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F42E4-1A4E-44FC-A6C7-FE88B8EC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46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1749F-0B21-4F13-B284-223A5EF8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FB786-1261-48F5-8F85-4C45243A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BBE1D-B74A-431F-BC92-3363A6C7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00:00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CDFC7-F4E3-4666-93CE-E5E9A7A0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Traffic surge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AD127-5562-4365-A28F-73AAAEBB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CPU and p95 rise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ED9F1-0ACD-4EC2-B1E4-30BB1B21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2069C-E335-4720-85C7-B21BAFD5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33E50-6451-4843-8207-24D6C377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00:30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55A91-E410-425C-A551-77CF756B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Anomaly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94126-5A77-4F6F-9B10-AE953252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Score reaches 0.91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F8C96-0FC2-43C5-8EC2-6557FD9B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5DD2B-C8B3-4D84-85A3-D2958F26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ED9AB-1DE1-4B1B-89A9-A8C4F40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00:35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2BC2F-5665-430E-9A3E-55E960F3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Diagnosis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D8570-AADE-47E7-B20C-CBD9FBB9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Capacity at 91% confidence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F3BE5-42C6-43C3-8652-0453CD82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164A9F-B698-4028-B5C8-C0B047B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5F9F6-E55D-4508-A23A-94AD4F2D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00:38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C65330-D5A0-42A6-959A-1982B924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Policy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F8EA5-6129-4F35-8D94-39B84994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Five guardrails 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3BF8D2-4AB8-4A90-A137-CB6A1446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78234-79B5-4EA9-9402-B2E55A35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176209-3D7A-4EBE-8EEF-301DF3B3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00:40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F4E49F-7E1F-4FDF-97D0-84601CE4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Response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58885D-3EE6-4BE9-9A3B-C836A21C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Scale +1 dry-run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0B378E-95A1-4325-BD2C-B7314CF0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194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366424-67CD-4F96-8332-E8268243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286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C12"/>
                </a:solidFill>
              </a:defRPr>
            </a:pPr>
            <a:r>
              <a:rPr sz="1275" b="1">
                <a:solidFill>
                  <a:srgbClr val="090C12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8AA6CF-8D8E-48A0-8BED-E607F351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4444"/>
                </a:solidFill>
              </a:defRPr>
            </a:pPr>
            <a:r>
              <a:rPr sz="1350" b="1">
                <a:solidFill>
                  <a:srgbClr val="F04444"/>
                </a:solidFill>
              </a:rPr>
              <a:t>01:10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AE7D1F-7C77-44C3-90D9-BFAC9882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4765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Verify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0C5C46-5C8F-4B95-9FEB-3D0D600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905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6B2"/>
                </a:solidFill>
              </a:defRPr>
            </a:pPr>
            <a:r>
              <a:rPr sz="1275" b="0">
                <a:solidFill>
                  <a:srgbClr val="9AA6B2"/>
                </a:solidFill>
              </a:rPr>
              <a:t>SLO burn declines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61ED63-0369-4362-BCE9-EDB5308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The goal is not a vague “self-healing” claim—it is measurable, auditable, safe automation.</a:t>
            </a:r>
          </a:p>
        </p:txBody>
      </p:sp>
    </p:spTree>
    <p:extLst>
      <p:ext uri="{BB962C8B-B14F-4D97-AF65-F5344CB8AC3E}">
        <p14:creationId xmlns:p14="http://schemas.microsoft.com/office/powerpoint/2010/main" val="7401930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B52CA-680A-4587-ADAE-B1E44219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B2F90-969C-463E-85AE-DEE9CB0F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HUAWEI CLOUD TARGET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19360-DC9E-4087-8B87-31D6D721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Open components map cleanly to Huawei Cloud managed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108C9-E247-46B3-BBB4-D528809D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8CCDF-E718-4DB5-84B7-9C7B74D0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A007D-6CA6-4AED-95B9-72F8D730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AD34C-0108-40E0-8D6D-2F2EAA06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44AE9-70A8-4BC4-AF7B-E4D941C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812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Kubernetes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46767-2E41-4D67-970F-6CDC3502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574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07AB1-3479-4558-8A09-89CF12A4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573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90DBD-FAA6-4896-AF45-D8AEC7EE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C6E8"/>
                </a:solidFill>
              </a:defRPr>
            </a:pPr>
            <a:r>
              <a:rPr sz="1800" b="1">
                <a:solidFill>
                  <a:srgbClr val="48C6E8"/>
                </a:solidFill>
              </a:rPr>
              <a:t>CCE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0BB88-2512-4EF2-8C1C-48CF394F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DABF9-9D5A-418A-BB4A-E9CD4F06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Container 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1DA97-6EAC-459F-9190-9EEF9742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60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F66CE-E784-427D-8604-EB92402B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431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FF1B8-8BC2-4B86-818D-47C971BB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384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C6E8"/>
                </a:solidFill>
              </a:defRPr>
            </a:pPr>
            <a:r>
              <a:rPr sz="1800" b="1">
                <a:solidFill>
                  <a:srgbClr val="48C6E8"/>
                </a:solidFill>
              </a:rPr>
              <a:t>SWR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0CD75-7547-4484-85FC-3C4F3EA5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44957-8201-4929-8A4A-0EB2B431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528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Unified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79B17-9A19-44B8-9FF0-DCF2972E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C790D0-5960-434D-A6AB-1E6AE05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289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2EEE3-337E-467B-8BC4-EC31061A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242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4444"/>
                </a:solidFill>
              </a:defRPr>
            </a:pPr>
            <a:r>
              <a:rPr sz="1800" b="1">
                <a:solidFill>
                  <a:srgbClr val="F04444"/>
                </a:solidFill>
              </a:rPr>
              <a:t>AOM 2.0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CA3416-F43D-4585-B97C-E5F08349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99BBC9-030C-4CFB-9766-F559963E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386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Container logs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F416C-B6DA-4FFA-90D8-5DB5ECCB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48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F12101-8F83-439B-9162-DA611F4A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147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33C334-06ED-4B9A-8163-7C52187B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00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4444"/>
                </a:solidFill>
              </a:defRPr>
            </a:pPr>
            <a:r>
              <a:rPr sz="1800" b="1">
                <a:solidFill>
                  <a:srgbClr val="F04444"/>
                </a:solidFill>
              </a:rPr>
              <a:t>LTS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44DD0D-C657-49F6-A54D-EB1430D8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005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905600-BC6E-47AE-9F7D-C58B03C1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24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Retained exports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55F19B-D8BF-45DE-8C71-AF2F66C1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006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F4E197-7A84-427E-9C30-F1C82C96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005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335E1-538D-4968-956A-CE4863FC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958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4444"/>
                </a:solidFill>
              </a:defRPr>
            </a:pPr>
            <a:r>
              <a:rPr sz="1800" b="1">
                <a:solidFill>
                  <a:srgbClr val="F04444"/>
                </a:solidFill>
              </a:rPr>
              <a:t>OBS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C1D699-5DA5-47AF-94E1-106CEC8D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3714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4B2DD4-95A3-4CC7-8B05-EE2C02D9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102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A6B2"/>
                </a:solidFill>
              </a:defRPr>
            </a:pPr>
            <a:r>
              <a:rPr sz="1500" b="1">
                <a:solidFill>
                  <a:srgbClr val="9AA6B2"/>
                </a:solidFill>
              </a:rPr>
              <a:t>Cloud metrics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41905-D869-4CBB-9F6E-C25690D4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486400"/>
            <a:ext cx="1238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E34DB2-8D47-41C8-84FE-ED3B633E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8637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9DB890-3CEF-4583-A7EE-C31503FC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816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4444"/>
                </a:solidFill>
              </a:defRPr>
            </a:pPr>
            <a:r>
              <a:rPr sz="1800" b="1">
                <a:solidFill>
                  <a:srgbClr val="F04444"/>
                </a:solidFill>
              </a:rPr>
              <a:t>Cloud Eye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1951FD-9A9A-4B35-AEB6-D47B6B68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00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6C453"/>
                </a:solidFill>
              </a:defRPr>
            </a:pPr>
            <a:r>
              <a:rPr sz="1425" b="1">
                <a:solidFill>
                  <a:srgbClr val="F6C453"/>
                </a:solidFill>
              </a:rPr>
              <a:t>Status: cloud-deployment-ready • real apply requires an authorized account and approval</a:t>
            </a:r>
          </a:p>
        </p:txBody>
      </p:sp>
    </p:spTree>
    <p:extLst>
      <p:ext uri="{BB962C8B-B14F-4D97-AF65-F5344CB8AC3E}">
        <p14:creationId xmlns:p14="http://schemas.microsoft.com/office/powerpoint/2010/main" val="17846399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BB5AB8-15A1-45A9-BA9B-8DB120F2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09B54-0DF1-42B3-97D7-50B89C7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SECURITY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0E2A6-B14D-4F68-BF62-80A3A33F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Defense layers deliberately minimize the automation blast radius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AA87A-73D0-462C-8CB8-63FBBF14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71B68-D79F-45E7-A6BD-77422B9C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BDC5F-6BD7-4DD0-A566-B4AE0CA9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37BF2-75D9-4725-860D-0DF42E40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990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F445E-34E8-48F4-B338-4C6E3986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669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8C6E8"/>
                </a:solidFill>
              </a:defRPr>
            </a:pPr>
            <a:r>
              <a:rPr sz="1650" b="1">
                <a:solidFill>
                  <a:srgbClr val="48C6E8"/>
                </a:solidFill>
              </a:rPr>
              <a:t>Supply chain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9729E-80B0-4E03-AB71-AC48B45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66925"/>
            <a:ext cx="728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Trivy 0.35.0 • CodeQL v4 • pinned dependencies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48AA6-2C21-4817-A264-0F727B02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86050"/>
            <a:ext cx="8477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ADEF0-AB91-43C4-91A0-772E875F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47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8C6E8"/>
                </a:solidFill>
              </a:defRPr>
            </a:pPr>
            <a:r>
              <a:rPr sz="1650" b="1">
                <a:solidFill>
                  <a:srgbClr val="48C6E8"/>
                </a:solidFill>
              </a:rPr>
              <a:t>Container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78063-321E-45B2-B901-E7742847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47975"/>
            <a:ext cx="585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non-root • read-only FS • no privilege escalation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50C26-7455-4B40-A80B-05B1C3C2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67100"/>
            <a:ext cx="7048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1A60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42223-A0BC-4AE4-AD68-714D09A1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290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8C6E8"/>
                </a:solidFill>
              </a:defRPr>
            </a:pPr>
            <a:r>
              <a:rPr sz="1650" b="1">
                <a:solidFill>
                  <a:srgbClr val="48C6E8"/>
                </a:solidFill>
              </a:rPr>
              <a:t>Kubernetes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94885-46AD-4E09-A81D-B970F7BB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290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default-deny NetworkPolicy • HPA • PDB • probes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2B734-BE8A-4B26-9FE4-54BD1284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48150"/>
            <a:ext cx="561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B41C0-BCDE-4DAC-A03B-DBB02867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4100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4444"/>
                </a:solidFill>
              </a:defRPr>
            </a:pPr>
            <a:r>
              <a:rPr sz="1650" b="1">
                <a:solidFill>
                  <a:srgbClr val="F04444"/>
                </a:solidFill>
              </a:rPr>
              <a:t>Automation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A5BE8-FDD2-4F0E-87A7-347D669B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1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namespace Role • allow-list • cooldown • 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23B3E-88F3-4124-B08D-E48C2F7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29200"/>
            <a:ext cx="4191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BB6FD-DA06-46C0-BA37-62341A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91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4444"/>
                </a:solidFill>
              </a:defRPr>
            </a:pPr>
            <a:r>
              <a:rPr sz="1650" b="1">
                <a:solidFill>
                  <a:srgbClr val="F04444"/>
                </a:solidFill>
              </a:rPr>
              <a:t>Delivery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265E4-0566-4238-A151-E398E22A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911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private SWR • immutable tag/digest • manual cloud publish</a:t>
            </a:r>
          </a:p>
        </p:txBody>
      </p:sp>
    </p:spTree>
    <p:extLst>
      <p:ext uri="{BB962C8B-B14F-4D97-AF65-F5344CB8AC3E}">
        <p14:creationId xmlns:p14="http://schemas.microsoft.com/office/powerpoint/2010/main" val="3316151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05B5F4-5DBA-4128-9FB8-D14C81E9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5FD7E-ABA5-4CFB-A870-949670A4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EVIDENCE AND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AFE43-E3D0-4839-A26C-06F0F399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The validation suite measures quality from code to executive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3836D-AFB7-4A39-BB60-8F8E11C5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02C14-476E-46E6-9ACF-4F0FABE2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40E94-DBBC-43F0-A946-2AEB9951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B01D1-2BE4-42F0-B7D4-27894B5E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BD208-25C3-42E3-B745-8CDC47D1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PASSING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2C3E1-93D7-4182-A426-48AA16BF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D17C"/>
                </a:solidFill>
              </a:defRPr>
            </a:pPr>
            <a:r>
              <a:rPr sz="2850" b="1">
                <a:solidFill>
                  <a:srgbClr val="31D17C"/>
                </a:solidFill>
              </a:rPr>
              <a:t>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2D242-EC24-4409-A4DF-BC905306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F477F-4A38-4F17-88B4-2AF05708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05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CODE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05101-A977-404E-B75C-AB9A760D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D17C"/>
                </a:solidFill>
              </a:defRPr>
            </a:pPr>
            <a:r>
              <a:rPr sz="2850" b="1">
                <a:solidFill>
                  <a:srgbClr val="31D17C"/>
                </a:solidFill>
              </a:rPr>
              <a:t>93.76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CFD54-EA40-402D-98C0-29989161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45836-54CA-4330-AC6F-D571492C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BBB21-F999-4476-927D-FFF74EA5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05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GRAFANA PANELS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1AA84-60FF-40E8-B575-BEC161E2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8C6E8"/>
                </a:solidFill>
              </a:defRPr>
            </a:pPr>
            <a:r>
              <a:rPr sz="2850" b="1">
                <a:solidFill>
                  <a:srgbClr val="48C6E8"/>
                </a:solidFill>
              </a:rPr>
              <a:t>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FD1BB-1483-4780-9CE9-32AFDE57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631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63428-20F7-4B8D-815B-173268C7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05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6B2"/>
                </a:solidFill>
              </a:defRPr>
            </a:pPr>
            <a:r>
              <a:rPr sz="1050" b="1">
                <a:solidFill>
                  <a:srgbClr val="9AA6B2"/>
                </a:solidFill>
              </a:rPr>
              <a:t>RUNBOOK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1BF30-7E53-4896-96E7-A0631068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FE603-91D3-4258-B7F0-F83E8AE8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4D298-7B18-411E-B1DD-B455914B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766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6FFCE-01B9-476E-8F35-913258DD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8B0F4-4148-4E6B-B363-73BB46B2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385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Ruff lint + format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D9A189-7BB6-4A56-8F5F-3045F840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D439A-1DF8-425B-98BD-100134A0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766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7B0166-0E0B-4AAA-9D55-2B8E6147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138D0-6AE4-4ED2-B630-87C0630D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385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Pytest + branch coverage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958D1C-85B4-43CE-9911-D09FEE15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FEE5F3-41D6-403D-8121-208519E7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62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4F057-81F7-4BED-9C07-AC3D76A6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8A402F-D581-40A7-92EF-63DA8768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24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Docker Compose config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0B0B4B-D058-43F9-9E79-8C194F9B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AFC325-34E1-45AC-9916-D7605057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93F08D-D713-4DC9-BE03-53F0A2E2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339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03553F-DBCC-4BF6-941B-8ECB18DD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24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Helm lint + render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0E1834-B788-4E6B-B8D1-433A3C0A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877D72-9891-4591-876A-64DB80FB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482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E538F6-0130-4E80-AD37-3375FD2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B01628-ED39-4D88-9428-768EA4A7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101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Terraform fmt + validate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C6060F-A75B-4B44-A1D7-F50CDCCF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4762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8D0181-C83A-46E4-9BF2-943C88B2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4827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D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3ABFAE-BA03-4163-AAAB-DCD408DE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0C12"/>
                </a:solidFill>
              </a:defRPr>
            </a:pPr>
            <a:r>
              <a:rPr sz="1050" b="1">
                <a:solidFill>
                  <a:srgbClr val="090C12"/>
                </a:solidFill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856761-EA9F-4DFC-A1AA-55BC5FEC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01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</a:defRPr>
            </a:pPr>
            <a:r>
              <a:rPr sz="1425" b="1">
                <a:solidFill>
                  <a:srgbClr val="F4F7FB"/>
                </a:solidFill>
              </a:rPr>
              <a:t>Trivy + CodeQL</a:t>
            </a:r>
          </a:p>
        </p:txBody>
      </p:sp>
    </p:spTree>
    <p:extLst>
      <p:ext uri="{BB962C8B-B14F-4D97-AF65-F5344CB8AC3E}">
        <p14:creationId xmlns:p14="http://schemas.microsoft.com/office/powerpoint/2010/main" val="17976514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39543E-A169-458C-BD13-5D068F3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6339D-D63F-4085-AF99-54B04694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PROFESSIONAL PROJECT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0518C-841A-4924-9F7A-28DF4B5C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The deliverable set supports both technical review and executive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B6576-448A-4F6B-B719-5179E67B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81665-28CB-4A9C-8D01-F78A8240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55E5F-7EDC-48B0-9A0F-14424A8B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869A7-8B24-4E28-A01C-7066965B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EB6A1-F193-4047-91E0-5E52AA89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52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C6E8"/>
                </a:solidFill>
              </a:defRPr>
            </a:pPr>
            <a:r>
              <a:rPr sz="1125" b="1">
                <a:solidFill>
                  <a:srgbClr val="48C6E8"/>
                </a:solidFill>
              </a:rPr>
              <a:t>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1C6BC-8830-49F4-9272-5B2E571A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669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4 FastAPI services + AIOps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DD14D-F655-464D-8CB5-71380D4C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FF0E3-03E0-4618-8A0A-78EA6FDE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52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C6E8"/>
                </a:solidFill>
              </a:defRPr>
            </a:pPr>
            <a:r>
              <a:rPr sz="1125" b="1">
                <a:solidFill>
                  <a:srgbClr val="48C6E8"/>
                </a:solidFill>
              </a:rPr>
              <a:t>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EBC08-FE66-4283-97A3-CD1AE401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3 Grafana dashboards + SLO + alerts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88BDF-B44A-405F-9B00-F964C52C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A7985-2E7E-4BED-95D0-938624B5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43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C6E8"/>
                </a:solidFill>
              </a:defRPr>
            </a:pPr>
            <a:r>
              <a:rPr sz="1125" b="1">
                <a:solidFill>
                  <a:srgbClr val="48C6E8"/>
                </a:solidFill>
              </a:rPr>
              <a:t>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4D284-5B52-4250-8953-3AD9BFA3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576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Terraform + Helm + CCE/SWR/OBS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E6037-0780-4C38-A1EB-F5E61CB1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90875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4D2BF-ED37-4D40-9941-38F2F81F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43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C6E8"/>
                </a:solidFill>
              </a:defRPr>
            </a:pPr>
            <a:r>
              <a:rPr sz="1125" b="1">
                <a:solidFill>
                  <a:srgbClr val="48C6E8"/>
                </a:solidFill>
              </a:rPr>
              <a:t>SECURITY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77476-9740-4A70-B3E2-95215701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576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RBAC + NetworkPolicy + Trivy + CodeQL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F4E9C-0FE5-47ED-A8E1-964019E2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B5F85-D000-4E0D-8B62-E49F1B58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533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DOCUMENTATION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97A68-B01C-4E9F-8252-BEA1D3FA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482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6 runbooks + 4 ADRs + threat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0FA2F-917D-4019-93E5-C373B8AE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5143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239C5-6A7D-4AD7-84AE-CE8F1609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33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EXECUTIVE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8CDEC-7DA2-4281-8D43-AEC15FB4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8482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20-slide TR + 20-slide EN + executive 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46814B-390D-4D66-9B83-A5A006EC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The repository presents an operating model and decision story—not code alone.</a:t>
            </a:r>
          </a:p>
        </p:txBody>
      </p:sp>
    </p:spTree>
    <p:extLst>
      <p:ext uri="{BB962C8B-B14F-4D97-AF65-F5344CB8AC3E}">
        <p14:creationId xmlns:p14="http://schemas.microsoft.com/office/powerpoint/2010/main" val="21048125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0C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01F62D-CD6B-40CD-B99A-A9A2EBC8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444AE-475B-4D0B-A564-6C6509C9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4444"/>
                </a:solidFill>
              </a:defRPr>
            </a:pPr>
            <a:r>
              <a:rPr sz="1125" b="1">
                <a:solidFill>
                  <a:srgbClr val="F04444"/>
                </a:solidFill>
              </a:rPr>
              <a:t>VALUE AND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02456-F361-416C-AC7C-E26381DE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Outcome: faster detection, clearer diagnosis, safer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9AC62-3D03-4C9A-A046-7A66D367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7E6B4-E920-4CC8-A007-5ECE9541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8"/>
                </a:solidFill>
              </a:defRPr>
            </a:pPr>
            <a:r>
              <a:rPr sz="975" b="0">
                <a:solidFill>
                  <a:srgbClr val="5F6B78"/>
                </a:solidFill>
              </a:rPr>
              <a:t>Murat Miraç Gedik  •  Huawei Cloud AIOps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31E83-38D7-426C-834A-F40A09C7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8"/>
                </a:solidFill>
              </a:defRPr>
            </a:pPr>
            <a:r>
              <a:rPr sz="975" b="1">
                <a:solidFill>
                  <a:srgbClr val="5F6B78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96C60-5A82-4066-897D-9C24D588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D5F67-29A1-4890-A95F-C928510E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C6E8"/>
                </a:solidFill>
              </a:defRPr>
            </a:pPr>
            <a:r>
              <a:rPr sz="2250" b="1">
                <a:solidFill>
                  <a:srgbClr val="48C6E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F4356-4491-4B2D-AD85-4C24D818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VISIBILITY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56231-1837-46DF-B99E-DB5A62B1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71875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Metrics, logs, traces, and business signals in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18D3E-154B-44A4-8DA5-A7D14066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61E2A"/>
          </a:solidFill>
          <a:ln xmlns:a="http://schemas.openxmlformats.org/drawingml/2006/main" w="9525">
            <a:solidFill>
              <a:srgbClr val="8A20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CFCFA-ABC3-437F-830B-E59FE9DA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62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4444"/>
                </a:solidFill>
              </a:defRPr>
            </a:pPr>
            <a:r>
              <a:rPr sz="2250" b="1">
                <a:solidFill>
                  <a:srgbClr val="F04444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8F50C-9CB6-45FC-9409-FBD1FC9C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AD72E-180B-4587-97E4-FE5FF320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71875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Explainable hybrid anomaly and root-cause ranking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FAB7C-AC20-4AFC-831F-66AEFAD1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720"/>
          </a:solidFill>
          <a:ln xmlns:a="http://schemas.openxmlformats.org/drawingml/2006/main" w="9525">
            <a:solidFill>
              <a:srgbClr val="2832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5EABA-DD86-4E89-85D1-9B82AAFD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C6E8"/>
                </a:solidFill>
              </a:defRPr>
            </a:pPr>
            <a:r>
              <a:rPr sz="2250" b="1">
                <a:solidFill>
                  <a:srgbClr val="48C6E8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2A247-7853-475B-9E74-D1D6B5E2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25849-AFCB-4262-A28A-6CED98BE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71875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AA6B2"/>
                </a:solidFill>
              </a:defRPr>
            </a:pPr>
            <a:r>
              <a:rPr sz="1425" b="0">
                <a:solidFill>
                  <a:srgbClr val="9AA6B2"/>
                </a:solidFill>
              </a:rPr>
              <a:t>Dry-run, RBAC, risk thresholds, cooldown, and 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C82FA-37EE-4A23-A050-0B3CBE12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95875"/>
            <a:ext cx="8382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8A2027"/>
          </a:solidFill>
          <a:ln xmlns:a="http://schemas.openxmlformats.org/drawingml/2006/main" w="9525">
            <a:solidFill>
              <a:srgbClr val="F044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724C0-6CE9-4DF0-8ACE-B161FD6D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768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</a:defRPr>
            </a:pPr>
            <a:r>
              <a:rPr sz="1875" b="1">
                <a:solidFill>
                  <a:srgbClr val="F4F7FB"/>
                </a:solidFill>
              </a:rPr>
              <a:t>Next step: controlled cloud plan → dry-run evidence → approved activation</a:t>
            </a:r>
          </a:p>
        </p:txBody>
      </p:sp>
    </p:spTree>
    <p:extLst>
      <p:ext uri="{BB962C8B-B14F-4D97-AF65-F5344CB8AC3E}">
        <p14:creationId xmlns:p14="http://schemas.microsoft.com/office/powerpoint/2010/main" val="1504214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2026-07-28T10:19:53.8040000Z</dcterms:created>
  <dcterms:modified xsi:type="dcterms:W3CDTF">2026-07-28T10:19:53.8040000Z</dcterms:modified>
</coreProperties>
</file>