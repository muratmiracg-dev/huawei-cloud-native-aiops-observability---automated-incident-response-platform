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b1eb1004754288" /><Relationship Type="http://schemas.openxmlformats.org/officeDocument/2006/relationships/extended-properties" Target="/docProps/app.xml" Id="Rb9dd5aefa3694197" /><Relationship Type="http://schemas.openxmlformats.org/officeDocument/2006/relationships/officeDocument" Target="/ppt/presentation.xml" Id="R5a0e3751f2b848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a48d7250ab465d"/>
  </p:sldMasterIdLst>
  <p:notesMasterIdLst>
    <p:notesMasterId xmlns:r="http://schemas.openxmlformats.org/officeDocument/2006/relationships" r:id="Ref6684dd7e1c4151"/>
  </p:notesMasterIdLst>
  <p:sldIdLst>
    <p:sldId xmlns:r="http://schemas.openxmlformats.org/officeDocument/2006/relationships" id="256" r:id="R3f26c5e8c0f8456f"/>
    <p:sldId xmlns:r="http://schemas.openxmlformats.org/officeDocument/2006/relationships" id="257" r:id="R52806995dbd64173"/>
    <p:sldId xmlns:r="http://schemas.openxmlformats.org/officeDocument/2006/relationships" id="258" r:id="Rab14a33797ac475f"/>
    <p:sldId xmlns:r="http://schemas.openxmlformats.org/officeDocument/2006/relationships" id="259" r:id="R7982f4ede2534e4d"/>
    <p:sldId xmlns:r="http://schemas.openxmlformats.org/officeDocument/2006/relationships" id="260" r:id="R7a5a9c0f7d674c67"/>
    <p:sldId xmlns:r="http://schemas.openxmlformats.org/officeDocument/2006/relationships" id="261" r:id="Rb05738d803f14422"/>
    <p:sldId xmlns:r="http://schemas.openxmlformats.org/officeDocument/2006/relationships" id="262" r:id="R6226b797356a4280"/>
    <p:sldId xmlns:r="http://schemas.openxmlformats.org/officeDocument/2006/relationships" id="263" r:id="R21ec806afd254d2c"/>
    <p:sldId xmlns:r="http://schemas.openxmlformats.org/officeDocument/2006/relationships" id="264" r:id="Raf2fe117ea644991"/>
    <p:sldId xmlns:r="http://schemas.openxmlformats.org/officeDocument/2006/relationships" id="265" r:id="R529b7311c6ac4992"/>
    <p:sldId xmlns:r="http://schemas.openxmlformats.org/officeDocument/2006/relationships" id="266" r:id="R84cccb7fd2b34402"/>
    <p:sldId xmlns:r="http://schemas.openxmlformats.org/officeDocument/2006/relationships" id="267" r:id="R71bcaa8fb51c4f02"/>
    <p:sldId xmlns:r="http://schemas.openxmlformats.org/officeDocument/2006/relationships" id="268" r:id="Ra2e48eeefa954c48"/>
    <p:sldId xmlns:r="http://schemas.openxmlformats.org/officeDocument/2006/relationships" id="269" r:id="Rfd4da5b8bb3f4eb1"/>
    <p:sldId xmlns:r="http://schemas.openxmlformats.org/officeDocument/2006/relationships" id="270" r:id="Rd6b5b1e8a42b4ebc"/>
    <p:sldId xmlns:r="http://schemas.openxmlformats.org/officeDocument/2006/relationships" id="271" r:id="R160b39f93d5b4732"/>
    <p:sldId xmlns:r="http://schemas.openxmlformats.org/officeDocument/2006/relationships" id="272" r:id="R0893a7dcb74041ad"/>
    <p:sldId xmlns:r="http://schemas.openxmlformats.org/officeDocument/2006/relationships" id="273" r:id="R61b83e38d5e0468a"/>
    <p:sldId xmlns:r="http://schemas.openxmlformats.org/officeDocument/2006/relationships" id="274" r:id="R1d17c009340f4a21"/>
    <p:sldId xmlns:r="http://schemas.openxmlformats.org/officeDocument/2006/relationships" id="275" r:id="Rb1eec8b12e9948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575a80d5984d6f" /><Relationship Type="http://schemas.openxmlformats.org/officeDocument/2006/relationships/slideMaster" Target="/ppt/slideMasters/slideMaster1.xml" Id="R4da48d7250ab465d" /><Relationship Type="http://schemas.openxmlformats.org/officeDocument/2006/relationships/notesMaster" Target="/ppt/notesMasters/notesMaster1.xml" Id="Ref6684dd7e1c4151" /><Relationship Type="http://schemas.openxmlformats.org/officeDocument/2006/relationships/presProps" Target="/ppt/presProps.xml" Id="Rb6379c0da94f4753" /><Relationship Type="http://schemas.openxmlformats.org/officeDocument/2006/relationships/tableStyles" Target="/ppt/tableStyles.xml" Id="R381982cdee7b4c22" /><Relationship Type="http://schemas.openxmlformats.org/officeDocument/2006/relationships/slide" Target="/ppt/slides/slide1.xml" Id="R3f26c5e8c0f8456f" /><Relationship Type="http://schemas.openxmlformats.org/officeDocument/2006/relationships/slide" Target="/ppt/slides/slide2.xml" Id="R52806995dbd64173" /><Relationship Type="http://schemas.openxmlformats.org/officeDocument/2006/relationships/slide" Target="/ppt/slides/slide3.xml" Id="Rab14a33797ac475f" /><Relationship Type="http://schemas.openxmlformats.org/officeDocument/2006/relationships/slide" Target="/ppt/slides/slide4.xml" Id="R7982f4ede2534e4d" /><Relationship Type="http://schemas.openxmlformats.org/officeDocument/2006/relationships/slide" Target="/ppt/slides/slide5.xml" Id="R7a5a9c0f7d674c67" /><Relationship Type="http://schemas.openxmlformats.org/officeDocument/2006/relationships/slide" Target="/ppt/slides/slide6.xml" Id="Rb05738d803f14422" /><Relationship Type="http://schemas.openxmlformats.org/officeDocument/2006/relationships/slide" Target="/ppt/slides/slide7.xml" Id="R6226b797356a4280" /><Relationship Type="http://schemas.openxmlformats.org/officeDocument/2006/relationships/slide" Target="/ppt/slides/slide8.xml" Id="R21ec806afd254d2c" /><Relationship Type="http://schemas.openxmlformats.org/officeDocument/2006/relationships/slide" Target="/ppt/slides/slide9.xml" Id="Raf2fe117ea644991" /><Relationship Type="http://schemas.openxmlformats.org/officeDocument/2006/relationships/slide" Target="/ppt/slides/slide10.xml" Id="R529b7311c6ac4992" /><Relationship Type="http://schemas.openxmlformats.org/officeDocument/2006/relationships/slide" Target="/ppt/slides/slide11.xml" Id="R84cccb7fd2b34402" /><Relationship Type="http://schemas.openxmlformats.org/officeDocument/2006/relationships/slide" Target="/ppt/slides/slide12.xml" Id="R71bcaa8fb51c4f02" /><Relationship Type="http://schemas.openxmlformats.org/officeDocument/2006/relationships/slide" Target="/ppt/slides/slide13.xml" Id="Ra2e48eeefa954c48" /><Relationship Type="http://schemas.openxmlformats.org/officeDocument/2006/relationships/slide" Target="/ppt/slides/slide14.xml" Id="Rfd4da5b8bb3f4eb1" /><Relationship Type="http://schemas.openxmlformats.org/officeDocument/2006/relationships/slide" Target="/ppt/slides/slide15.xml" Id="Rd6b5b1e8a42b4ebc" /><Relationship Type="http://schemas.openxmlformats.org/officeDocument/2006/relationships/slide" Target="/ppt/slides/slide16.xml" Id="R160b39f93d5b4732" /><Relationship Type="http://schemas.openxmlformats.org/officeDocument/2006/relationships/slide" Target="/ppt/slides/slide17.xml" Id="R0893a7dcb74041ad" /><Relationship Type="http://schemas.openxmlformats.org/officeDocument/2006/relationships/slide" Target="/ppt/slides/slide18.xml" Id="R61b83e38d5e0468a" /><Relationship Type="http://schemas.openxmlformats.org/officeDocument/2006/relationships/slide" Target="/ppt/slides/slide19.xml" Id="R1d17c009340f4a21" /><Relationship Type="http://schemas.openxmlformats.org/officeDocument/2006/relationships/slide" Target="/ppt/slides/slide20.xml" Id="Rb1eec8b12e9948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e10fbcc5a4a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ff501351a418b" /><Relationship Type="http://schemas.openxmlformats.org/officeDocument/2006/relationships/notesMaster" Target="/ppt/notesMasters/notesMaster1.xml" Id="R65f307e62e0b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03edc42d24fff" /><Relationship Type="http://schemas.openxmlformats.org/officeDocument/2006/relationships/notesMaster" Target="/ppt/notesMasters/notesMaster1.xml" Id="R0dcceaf2ad9747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9b982b219c4e09" /><Relationship Type="http://schemas.openxmlformats.org/officeDocument/2006/relationships/notesMaster" Target="/ppt/notesMasters/notesMaster1.xml" Id="R97bcf62a9d9048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8ed68969c44fd9" /><Relationship Type="http://schemas.openxmlformats.org/officeDocument/2006/relationships/notesMaster" Target="/ppt/notesMasters/notesMaster1.xml" Id="Rc132a279857b40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3e978517b4ca0" /><Relationship Type="http://schemas.openxmlformats.org/officeDocument/2006/relationships/notesMaster" Target="/ppt/notesMasters/notesMaster1.xml" Id="Rec25c8f9021b4c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5d1ea6d51e454d" /><Relationship Type="http://schemas.openxmlformats.org/officeDocument/2006/relationships/notesMaster" Target="/ppt/notesMasters/notesMaster1.xml" Id="R869da9bfd8e045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012b3b5814400" /><Relationship Type="http://schemas.openxmlformats.org/officeDocument/2006/relationships/notesMaster" Target="/ppt/notesMasters/notesMaster1.xml" Id="R8f169b793ad147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bbe7d543974230" /><Relationship Type="http://schemas.openxmlformats.org/officeDocument/2006/relationships/notesMaster" Target="/ppt/notesMasters/notesMaster1.xml" Id="R6d36e563d169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0bbc0438fa4e93" /><Relationship Type="http://schemas.openxmlformats.org/officeDocument/2006/relationships/notesMaster" Target="/ppt/notesMasters/notesMaster1.xml" Id="Ra2d6c328768540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0e70c7c4584e1e" /><Relationship Type="http://schemas.openxmlformats.org/officeDocument/2006/relationships/notesMaster" Target="/ppt/notesMasters/notesMaster1.xml" Id="R3b5fa1c2dbdb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f4248be08a48ab" /><Relationship Type="http://schemas.openxmlformats.org/officeDocument/2006/relationships/notesMaster" Target="/ppt/notesMasters/notesMaster1.xml" Id="R0cb72147d7fa44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8e9e4f2b8544c6" /><Relationship Type="http://schemas.openxmlformats.org/officeDocument/2006/relationships/notesMaster" Target="/ppt/notesMasters/notesMaster1.xml" Id="R6778d0aa9d5241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ff2e91f36c44cf" /><Relationship Type="http://schemas.openxmlformats.org/officeDocument/2006/relationships/notesMaster" Target="/ppt/notesMasters/notesMaster1.xml" Id="R0b98bc05216d4b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c58365484c4e58" /><Relationship Type="http://schemas.openxmlformats.org/officeDocument/2006/relationships/notesMaster" Target="/ppt/notesMasters/notesMaster1.xml" Id="R640bcf83ecb84a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3c5ee2b27f4995" /><Relationship Type="http://schemas.openxmlformats.org/officeDocument/2006/relationships/notesMaster" Target="/ppt/notesMasters/notesMaster1.xml" Id="Rb237afecae8f4c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69e56ae01a4357" /><Relationship Type="http://schemas.openxmlformats.org/officeDocument/2006/relationships/notesMaster" Target="/ppt/notesMasters/notesMaster1.xml" Id="R9639fe8ecedb42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b3e8045d654bc3" /><Relationship Type="http://schemas.openxmlformats.org/officeDocument/2006/relationships/notesMaster" Target="/ppt/notesMasters/notesMaster1.xml" Id="R4b91da7673e542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0fafe1817841ae" /><Relationship Type="http://schemas.openxmlformats.org/officeDocument/2006/relationships/notesMaster" Target="/ppt/notesMasters/notesMaster1.xml" Id="R6c86628f3a494f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68b4f5b4074ab4" /><Relationship Type="http://schemas.openxmlformats.org/officeDocument/2006/relationships/notesMaster" Target="/ppt/notesMasters/notesMaster1.xml" Id="Rf00d573f9d3443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ddd0f00841496b" /><Relationship Type="http://schemas.openxmlformats.org/officeDocument/2006/relationships/notesMaster" Target="/ppt/notesMasters/notesMaster1.xml" Id="R4da69ed31f8d45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Original project-owned hero image generated for this presentation; no external logo or copied brand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https://support.huaweicloud.com/intl/en-us/usermanual-cce/cce_10_0110.html</a:t>
            </a:r>
          </a:p>
          <a:p xmlns:a="http://schemas.openxmlformats.org/drawingml/2006/main">
            <a:r>
              <a:t>- https://support.huaweicloud.com/intl/en-us/productdesc-aom2/aom_01_0001.html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https://support.huaweicloud.com/intl/en-us/usermanual-aom2/mon_01_0197.html</a:t>
            </a:r>
          </a:p>
          <a:p xmlns:a="http://schemas.openxmlformats.org/drawingml/2006/main">
            <a:r>
              <a:t>- https://support.huaweicloud.com/intl/en-us/usermanual-cce/cce_10_0416.html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Synthetic incident scenario defined in scripts/simulate_incident.py.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Internal Grafana dashboard JSON: 01-executive-overview.json.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Internal Grafana dashboard JSON: 02-slo-error-budget.json.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Internal Grafana dashboard JSON: 03-incident-intelligence.json.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Synthetic incident scenario defined in scripts/simulate_incident.py.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https://support.huaweicloud.com/intl/en-us/productdesc-aom2/aom_01_0001.html</a:t>
            </a:r>
          </a:p>
          <a:p xmlns:a="http://schemas.openxmlformats.org/drawingml/2006/main">
            <a:r>
              <a:t>- https://support.huaweicloud.com/intl/en-us/usermanual-cce/cce_10_0110.html</a:t>
            </a:r>
          </a:p>
          <a:p xmlns:a="http://schemas.openxmlformats.org/drawingml/2006/main">
            <a:r>
              <a:t>- https://github.com/huaweicloud/terraform-provider-huaweicloud/releases/tag/v1.95.0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Local validation on 2026-07-28: 36 passed; total coverage 93.76%.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Sunucu notu: Görünür içerik yönetici ve teknik değerlendirme kitlesi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44d5125ff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aef1e488304e30" /><Relationship Type="http://schemas.openxmlformats.org/officeDocument/2006/relationships/slideLayout" Target="/ppt/slideLayouts/slideLayout1.xml" Id="Rcff95fcc87724d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f95fcc87724d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df7ab76464980" /><Relationship Type="http://schemas.openxmlformats.org/officeDocument/2006/relationships/image" Target="/ppt/media/image.png" Id="Rcad71980e9224740" /><Relationship Type="http://schemas.openxmlformats.org/officeDocument/2006/relationships/notesSlide" Target="/ppt/notesSlides/notesSlide1.xml" Id="Rdf74f989c4c044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d76b9087d4304" /><Relationship Type="http://schemas.openxmlformats.org/officeDocument/2006/relationships/notesSlide" Target="/ppt/notesSlides/notesSlide2.xml" Id="Rcae83dd68b3e4d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1163834614253" /><Relationship Type="http://schemas.openxmlformats.org/officeDocument/2006/relationships/notesSlide" Target="/ppt/notesSlides/notesSlide3.xml" Id="R3ae8ec6d6990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0d656c39d43f1" /><Relationship Type="http://schemas.openxmlformats.org/officeDocument/2006/relationships/notesSlide" Target="/ppt/notesSlides/notesSlide4.xml" Id="Rb6e0c3fcf5554f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ba20148904412" /><Relationship Type="http://schemas.openxmlformats.org/officeDocument/2006/relationships/notesSlide" Target="/ppt/notesSlides/notesSlide5.xml" Id="R6285aaf0ae184c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c14e0f1584ce2" /><Relationship Type="http://schemas.openxmlformats.org/officeDocument/2006/relationships/notesSlide" Target="/ppt/notesSlides/notesSlide6.xml" Id="R35c418ddbcd946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b444188594a2e" /><Relationship Type="http://schemas.openxmlformats.org/officeDocument/2006/relationships/notesSlide" Target="/ppt/notesSlides/notesSlide7.xml" Id="Rc9ad07b107da47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1d47fe28c4782" /><Relationship Type="http://schemas.openxmlformats.org/officeDocument/2006/relationships/chart" Target="/ppt/slides/charts/chart1.xml" Id="R875185517f74459f" /><Relationship Type="http://schemas.openxmlformats.org/officeDocument/2006/relationships/notesSlide" Target="/ppt/notesSlides/notesSlide8.xml" Id="Rf1281be0199d41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052b61f9b4a60" /><Relationship Type="http://schemas.openxmlformats.org/officeDocument/2006/relationships/notesSlide" Target="/ppt/notesSlides/notesSlide9.xml" Id="R95c82e78640340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8515ce72a453e" /><Relationship Type="http://schemas.openxmlformats.org/officeDocument/2006/relationships/notesSlide" Target="/ppt/notesSlides/notesSlide10.xml" Id="R9986a853934948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adbbc2b8f4d5b" /><Relationship Type="http://schemas.openxmlformats.org/officeDocument/2006/relationships/notesSlide" Target="/ppt/notesSlides/notesSlide11.xml" Id="R687ed785693e48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a9157e5bb4408" /><Relationship Type="http://schemas.openxmlformats.org/officeDocument/2006/relationships/notesSlide" Target="/ppt/notesSlides/notesSlide12.xml" Id="R86c1146d4b5848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6db6d06dc4cd8" /><Relationship Type="http://schemas.openxmlformats.org/officeDocument/2006/relationships/notesSlide" Target="/ppt/notesSlides/notesSlide13.xml" Id="R29167975105c43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b117ff78b47f5" /><Relationship Type="http://schemas.openxmlformats.org/officeDocument/2006/relationships/notesSlide" Target="/ppt/notesSlides/notesSlide14.xml" Id="R73b03b9b422c4a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8d1207bbe4b8d" /><Relationship Type="http://schemas.openxmlformats.org/officeDocument/2006/relationships/notesSlide" Target="/ppt/notesSlides/notesSlide15.xml" Id="Re5f918eaf6a640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e720f32c49c7" /><Relationship Type="http://schemas.openxmlformats.org/officeDocument/2006/relationships/notesSlide" Target="/ppt/notesSlides/notesSlide16.xml" Id="R7f23fa57a0b040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346dd3e6f42c1" /><Relationship Type="http://schemas.openxmlformats.org/officeDocument/2006/relationships/notesSlide" Target="/ppt/notesSlides/notesSlide17.xml" Id="R9349457910524d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ca17228f44cc0" /><Relationship Type="http://schemas.openxmlformats.org/officeDocument/2006/relationships/notesSlide" Target="/ppt/notesSlides/notesSlide18.xml" Id="R224e300b3db742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0c6f87a594b52" /><Relationship Type="http://schemas.openxmlformats.org/officeDocument/2006/relationships/notesSlide" Target="/ppt/notesSlides/notesSlide19.xml" Id="R18b4ed4fdcd340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790702a36431b" /><Relationship Type="http://schemas.openxmlformats.org/officeDocument/2006/relationships/notesSlide" Target="/ppt/notesSlides/notesSlide20.xml" Id="Ra963df99d40446a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p95 gecikme (sn)</c:v>
          </c:tx>
          <c:spPr>
            <a:ln xmlns:a="http://schemas.openxmlformats.org/drawingml/2006/main" w="38100">
              <a:solidFill>
                <a:srgbClr val="F04444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0.18</c:v>
              </c:pt>
              <c:pt idx="1">
                <c:v>0.2</c:v>
              </c:pt>
              <c:pt idx="2">
                <c:v>0.19</c:v>
              </c:pt>
              <c:pt idx="3">
                <c:v>0.21</c:v>
              </c:pt>
              <c:pt idx="4">
                <c:v>0.2</c:v>
              </c:pt>
              <c:pt idx="5">
                <c:v>0.22</c:v>
              </c:pt>
              <c:pt idx="6">
                <c:v>0.21</c:v>
              </c:pt>
              <c:pt idx="7">
                <c:v>0.19</c:v>
              </c:pt>
              <c:pt idx="8">
                <c:v>0.23</c:v>
              </c:pt>
              <c:pt idx="9">
                <c:v>0.21</c:v>
              </c:pt>
              <c:pt idx="10">
                <c:v>0.22</c:v>
              </c:pt>
              <c:pt idx="11">
                <c:v>1.48</c:v>
              </c:pt>
            </c:numLit>
          </c:val>
        </c:ser>
        <c:ser>
          <c:idx val="1"/>
          <c:order val="1"/>
          <c:tx>
            <c:v>Baz çizgi</c:v>
          </c:tx>
          <c:spPr>
            <a:ln xmlns:a="http://schemas.openxmlformats.org/drawingml/2006/main" w="19050">
              <a:solidFill>
                <a:srgbClr val="48C6E8"/>
              </a:solidFill>
              <a:prstDash val="dash"/>
            </a:ln>
          </c:spPr>
          <c:marker>
            <c:symbol val="none"/>
            <c:size val="2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0.21</c:v>
              </c:pt>
              <c:pt idx="1">
                <c:v>0.21</c:v>
              </c:pt>
              <c:pt idx="2">
                <c:v>0.21</c:v>
              </c:pt>
              <c:pt idx="3">
                <c:v>0.21</c:v>
              </c:pt>
              <c:pt idx="4">
                <c:v>0.21</c:v>
              </c:pt>
              <c:pt idx="5">
                <c:v>0.21</c:v>
              </c:pt>
              <c:pt idx="6">
                <c:v>0.21</c:v>
              </c:pt>
              <c:pt idx="7">
                <c:v>0.21</c:v>
              </c:pt>
              <c:pt idx="8">
                <c:v>0.21</c:v>
              </c:pt>
              <c:pt idx="9">
                <c:v>0.21</c:v>
              </c:pt>
              <c:pt idx="10">
                <c:v>0.21</c:v>
              </c:pt>
              <c:pt idx="11">
                <c:v>0.21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4404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A6B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03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34404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A6B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1172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AA6B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111720"/>
    </a:solidFill>
    <a:ln xmlns:a="http://schemas.openxmlformats.org/drawingml/2006/main" w="0">
      <a:solidFill>
        <a:srgbClr val="11172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71980e9224740"/>
          <a:srcRect xmlns:a="http://schemas.openxmlformats.org/drawingml/2006/main" l="15216" t="0" r="152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0"/>
            <a:ext cx="847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2A4CF-882C-4A8E-B59A-C2487CC4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535D9-D114-40B3-B0F6-4EF3A224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1C046-73A4-4D5D-8861-6D69F5E8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4444"/>
                </a:solidFill>
              </a:defRPr>
            </a:pPr>
            <a:r>
              <a:rPr sz="1275" b="1">
                <a:solidFill>
                  <a:srgbClr val="F04444"/>
                </a:solidFill>
              </a:rPr>
              <a:t>HUAWEI CLOUD-NATIVE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1CB1F-21D2-4E71-8A84-DAE906A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457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AIOps, Gözlemlenebilirlik ve Otomatik Olay Müdahalesi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5B671-D1EF-4805-9BE4-72012EA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6B2"/>
                </a:solidFill>
              </a:defRPr>
            </a:pPr>
            <a:r>
              <a:rPr sz="1650" b="0">
                <a:solidFill>
                  <a:srgbClr val="9AA6B2"/>
                </a:solidFill>
              </a:rPr>
              <a:t>CCE üzerinde kanıta dayalı SRE operasyon modeli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014F3-6DC3-4F9E-A5EE-3C3BB00B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Murat Miraç Gedik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9E489-6628-423D-95A9-B93611D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</a:defRPr>
            </a:pPr>
            <a:r>
              <a:rPr sz="1125" b="0">
                <a:solidFill>
                  <a:srgbClr val="5F6B78"/>
                </a:solidFill>
              </a:rPr>
              <a:t>Portfolio Reference Architecture  •  2026</a:t>
            </a:r>
          </a:p>
        </p:txBody>
      </p:sp>
    </p:spTree>
    <p:extLst>
      <p:ext uri="{BB962C8B-B14F-4D97-AF65-F5344CB8AC3E}">
        <p14:creationId xmlns:p14="http://schemas.microsoft.com/office/powerpoint/2010/main" val="89136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EF46B-363B-4253-9866-7AAE0B3C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A853B-3EFC-4A25-AD04-B868A395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YÖNETICI ÖZETI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5A8F1-592E-44B0-BD1D-E886A508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Sorun yalnızca arızayı görmek değil, doğru tepkiyi güvenle seçmek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4F641-C204-4BAC-A4E9-3604B1B1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7C95C-6B99-4C3E-8A1E-6B182174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33668-7C53-4970-AE97-E065ABD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F25C7-F079-4FD6-87F2-2D5B4C6A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Dağınık metrikler, gürültülü alarmlar ve manuel müdahale; tespit süresini uzatır, yanlış aksiyon riskini artırır.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FEFCA-4860-455E-915B-DAEC442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8B2D9-B797-452F-A44F-97E9BD1A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241AB-7036-488E-995B-22E8EEC4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90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C6E8"/>
                </a:solidFill>
              </a:defRPr>
            </a:pPr>
            <a:r>
              <a:rPr sz="225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BC042-03CB-46D1-A9B9-EA46C3F5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Algıla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F34E6-8ADD-4454-94E4-941A1906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1932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Metrik, log ve trace sinyallerini birleştir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EBDD0-8212-485F-95A4-6713FBBB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C15EE-FCE6-427B-824E-5B19320C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217EA-9794-4D80-8D87-8E74CC84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622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453"/>
                </a:solidFill>
              </a:defRPr>
            </a:pPr>
            <a:r>
              <a:rPr sz="2250" b="1">
                <a:solidFill>
                  <a:srgbClr val="F6C453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22ED3-5E8E-41D2-9621-A2232CF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Açıkla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44A25-DFDD-4C91-9976-AE82BCCB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9087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Anomaliyi kanıtla ve nedenleri sırala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36C9F-436C-4E96-B258-3BD4D5F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ED227-FB06-4E71-8A53-9E90CF02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E033B-6B65-4EBC-9040-6B1EAFFE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338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652F0-6434-4F12-8130-792245C8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86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Sınırla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2EBF8-FC2E-43F4-A89A-DB9039B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6242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Risk, güven ve RBAC korumalarını uygula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56FFA-0C9F-4D90-AB2B-A7B35DF6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DDF37-7695-480A-8E69-D338B9C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9431E-C764-4A27-8FAF-320FD97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053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D17C"/>
                </a:solidFill>
              </a:defRPr>
            </a:pPr>
            <a:r>
              <a:rPr sz="2250" b="1">
                <a:solidFill>
                  <a:srgbClr val="31D17C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6B668-0CC0-4521-A931-9DE00E28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Doğrula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F476C-919B-498B-8C1E-9DFC799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3397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SLO iyileşmesini ve aksiyon sonucunu izle</a:t>
            </a:r>
          </a:p>
        </p:txBody>
      </p:sp>
    </p:spTree>
    <p:extLst>
      <p:ext uri="{BB962C8B-B14F-4D97-AF65-F5344CB8AC3E}">
        <p14:creationId xmlns:p14="http://schemas.microsoft.com/office/powerpoint/2010/main" val="1342110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5BC2B-7ECF-47D3-B493-F85F85A1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04BE0-7AD0-40C8-9007-DD0F8C35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HEDEF IŞLETIM MODELI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C0F97-17D5-4FA1-B930-BE03450D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Platform, olay yaşam döngüsünü tek bir kanıt zincirine dönüştürüyor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2F09B-E3CD-4F48-82D5-70D70812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7CA8-C84D-4631-8283-516EDA94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E95F7-59A0-443F-874E-A88FF198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67401-51E6-4851-8A1B-4F0ADFE0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FBAFD-5E5D-469A-8357-3F391896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22645-058C-46A5-A293-2DBB8ED8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24AEB-A927-4279-B24F-1062AC3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8E64F-E722-4ECF-B178-27BF04F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1747C-9210-4217-B9B5-2B46113A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0D161-C08C-4890-A876-5A85891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A56ED-6121-4ED0-878A-469482CF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Telemetri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67E8F-D923-4318-A69C-67D30EE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RED + iş sinyali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85539-409E-4917-8D50-3A21952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760D3-FA22-41E6-885E-932393B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CDC21-9068-489D-AA0F-A184BE7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Anomali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986BC-9E48-4C9E-BFC8-5658B29C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Hibrit skor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5D054-8CF9-43E3-A85B-A9091BBF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BCA3F-284F-4EEB-B54C-D51D4AFB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989A8-99C6-4B2F-8DF4-15C7B937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Kök neden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EF1D6-3CB1-474D-82B3-0694F2F8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Çoklu kanıt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1E562-51B6-4702-828E-AFF85048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E13582-28E4-40BB-B79A-69E7B9B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DA6C2-4112-44D2-B751-B11B87D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Politika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6A6AA-292B-48B1-B66A-3986EC44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Risk + güven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64F1A-3FEB-4C91-A8CC-9F42F6A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11E1F-F608-43D9-8DA3-A2414ED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9989C-E0BB-432B-BB26-AE613953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Müdahale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1FF42-F10C-49EE-8DA1-DE4FAE02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Sınırlı eylem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61240-ED37-4ED8-9CAD-809C6311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1286BA-1921-41D0-8B1F-46CE0E6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E30758-E64C-4108-B70C-B4AF3886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Öğrenme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D59E1-EB51-40A1-818E-B2A7F44B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Audit + postmortem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8185BB-2D92-434F-AA64-9F5D5E00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Temel ilke: anomali bir sebep değildir; müdahale ancak yeterli kanıt ve koruma varsa başlar.</a:t>
            </a:r>
          </a:p>
        </p:txBody>
      </p:sp>
    </p:spTree>
    <p:extLst>
      <p:ext uri="{BB962C8B-B14F-4D97-AF65-F5344CB8AC3E}">
        <p14:creationId xmlns:p14="http://schemas.microsoft.com/office/powerpoint/2010/main" val="1027331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4A3F9-701C-46EE-A656-F22E769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E2DB0-3450-473D-BAF1-51FB514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REFERANS MIMARI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DEF0D-1F76-431F-B748-60B5AE3B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Dört düzlem, gözlemden güvenli müdahaleye net bir sorumluluk akışı kuruyor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FC213-8315-42E8-B4BF-3FB10C32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79A6C-D5DD-479B-8236-5231C368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52246-D4BF-4D23-9844-1098159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5B915-4572-4BFB-9395-A214157F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3409950"/>
            <a:ext cx="2667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1D59A-050A-4683-BDE0-06BF241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3409950"/>
            <a:ext cx="2667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67908-32C5-4978-A3AC-12004038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3409950"/>
            <a:ext cx="2667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3BD42-F0BE-4E78-860A-DDB0A27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CAF2F-EF2F-4D7C-93B2-BF8167F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1DE75-3EBB-4C7B-8F6D-2EDA8029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8C6E8"/>
                </a:solidFill>
              </a:defRPr>
            </a:pPr>
            <a:r>
              <a:rPr sz="1575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FADC0-F6EB-4FC7-8C8A-4839126B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İş yükü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D5D21-2F9F-4AFE-BE88-6E495716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5CFBC-A613-4F75-B448-93F93759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Orders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E9422-E6E1-4C23-B968-20F9AAE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EA86C-A328-4570-9404-DCD21814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Catalog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44C19-8FE2-487C-9D6B-C74E9E0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2688D-D108-457E-97B0-6C144F2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Payments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E788F-6FCC-4430-BB77-6367693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08111-FB26-497C-92FA-9902DAA2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FastAPI + CCE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F534A-58FF-4B37-B559-8A2EA3CD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5A3B1-6656-4785-B0D5-FABDACB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C9FC4-BCBD-4777-9B91-54275C01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8C6E8"/>
                </a:solidFill>
              </a:defRPr>
            </a:pPr>
            <a:r>
              <a:rPr sz="1575" b="1">
                <a:solidFill>
                  <a:srgbClr val="48C6E8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7E5D5-53DF-4AD6-9D5D-EE3E421D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Telemetri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F8FBA-AB26-4379-9E1A-39A54209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E41E6-7049-4368-971B-9C211B77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813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OpenTelemetry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DC9D5-A8F1-413C-85F2-43670A4F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A5BE8-E732-4A89-8EFE-45A4602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Prometheus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2B7B4-E04C-4CB3-B17E-B7A5F09B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FAC70-3B1C-4F50-AFA4-CA3AA79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576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AOM + LTS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EE0A54-D714-414B-961C-96321EB5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ECDB5-9E90-433A-8358-34327639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958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Tempo + Grafana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192924-8D26-463A-B5B9-FB4B6576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F4E2A9-E6ED-4DE9-92E9-530FC80C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20D08C-4869-4DB7-91C6-85181717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4444"/>
                </a:solidFill>
              </a:defRPr>
            </a:pPr>
            <a:r>
              <a:rPr sz="1575" b="1">
                <a:solidFill>
                  <a:srgbClr val="F04444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1CE91-9468-4128-97F9-F7E3823A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Zekâ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1ECA48-B85C-4ECE-86A9-72904061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41F8A-E93E-488F-8505-854629E4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813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Robust z-score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DC6FE2-E00E-4254-AC17-A41D11EC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836BA-4823-4030-9DB2-C90F3F35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95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Isolation Forest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17F7AC-05BE-408A-ABE2-790CCBC7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A5E448-7BD8-4D71-A02D-E05D1FDF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576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Kök neden sıralama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400AF4-42AB-4CDB-9CE7-67E8027C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42ABBB-18D0-4BDD-BA91-4DDF60A4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SLO burn rate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D4022E-796F-4A49-ADF9-94D4DFE5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4449B1-1C9B-461E-A324-47B7469A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B6CA4A-7D63-4009-BAC5-13A0EA2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4444"/>
                </a:solidFill>
              </a:defRPr>
            </a:pPr>
            <a:r>
              <a:rPr sz="1575" b="1">
                <a:solidFill>
                  <a:srgbClr val="F04444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C794CE-E80D-4593-9A16-689FF2D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Müdahale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1A7A73-C528-4533-B287-C829D0FC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D6163C-3394-470C-812F-B721146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813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Politika motoru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404A0E-1D1B-469E-A105-53A44926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4825BF-979F-4F8B-987E-2270B047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1952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Cooldown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0E0EE1-4916-4C80-8827-471E50C5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9DB6DB-19F8-48DE-BCA5-2F40522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576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Namespace RBAC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BA3F5A-293E-469D-8C15-EB434AFB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70C9AD-BF65-47B9-8A42-D588E3C5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9582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Audit + runbook</a:t>
            </a:r>
          </a:p>
        </p:txBody>
      </p:sp>
    </p:spTree>
    <p:extLst>
      <p:ext uri="{BB962C8B-B14F-4D97-AF65-F5344CB8AC3E}">
        <p14:creationId xmlns:p14="http://schemas.microsoft.com/office/powerpoint/2010/main" val="1458594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1EA52-3F0B-4E2F-AA76-8F36A08B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F00C0-2AD9-4CDF-98CF-9E2BD4C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MIKROSERVIS KATMANI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FC327-FB82-40F9-BF42-BCFDE7D6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Örnek iş yükü, gerçek operasyon davranışlarını kontrollü biçimde üretiyor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D79F1-ECE1-40D6-AF20-944413A7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0B3E6-F8B7-4897-9785-319F24E5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EA099-5EEE-47C2-A8A6-76CC71CA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7883E-ADBE-4FF7-B32D-54DFEA2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24250"/>
            <a:ext cx="2095500" cy="-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6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7BE6A-7934-48AB-A57E-64619EAC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209550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60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EB124-4F39-4864-8312-2D8015D6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0C2CA-ACBF-4277-89C6-902DF0A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5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ORDERS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BE253-2D07-438C-8C16-952C75AB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Idempotency • retry • orchestration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010A2-40B1-45D3-8878-6BC0FF8D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534DA-FA04-42B1-8F98-F741ED49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8C6E8"/>
                </a:solidFill>
              </a:defRPr>
            </a:pPr>
            <a:r>
              <a:rPr sz="2025" b="1">
                <a:solidFill>
                  <a:srgbClr val="48C6E8"/>
                </a:solidFill>
              </a:rPr>
              <a:t>CATALOG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D41D0-3FEC-4FCD-8506-0F567C6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Ürün ve stok rezervasyonu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5AFE-AC21-4626-ABA3-C81CC5A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A2E61-3EB9-4BAD-AB3A-1BD35E7B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8C6E8"/>
                </a:solidFill>
              </a:defRPr>
            </a:pPr>
            <a:r>
              <a:rPr sz="2025" b="1">
                <a:solidFill>
                  <a:srgbClr val="48C6E8"/>
                </a:solidFill>
              </a:rPr>
              <a:t>PAYMENTS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A384B-AC72-46B0-B792-D1F892A9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Deterministik ödeme simülatörü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7D31A-9BF8-4F9E-85FB-F41E047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E64E6-1ABA-487E-8B76-4F2AF787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GÖZLENEBILIR SERVIS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9B27F-82E7-4E02-A6DD-A05DE4C6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863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7699F-EF92-41D3-A9B6-238E8CD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A53D8-C45F-4ED3-8EB3-23E124F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İŞ AKIŞI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E390D-76B3-42B1-B63D-D5B33DF7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720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6E8"/>
                </a:solidFill>
              </a:defRPr>
            </a:pPr>
            <a:r>
              <a:rPr sz="2850" b="1">
                <a:solidFill>
                  <a:srgbClr val="48C6E8"/>
                </a:solidFill>
              </a:rPr>
              <a:t>E2E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5F88A-EAB0-4CC8-BCED-F96AA785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50157-8290-4730-85F0-458CA53B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HATA PROFILI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B5A87-12FB-4E5F-B9E4-833F238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6264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83E0B-EF12-4DB2-AFE6-E4D0F812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ECB23-69B4-403B-B4CC-7DEC5DF4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GÖZLEMLENEBILIRLIK HATTI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514D2-5AAE-42BF-81E6-DF18CA83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Taşınabilir telemetri, yerel araçları Huawei Cloud operasyonlarıyla birleştiriyor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5F6BC-F693-4E14-BDE6-240101A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C82F4-E55E-4C96-AA9A-99F11CA5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5BA24-C19D-4F9A-B85F-7C94FE90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A3B19-1071-47B5-9F6D-74812A4F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86125"/>
            <a:ext cx="3619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D5A82-C24C-4540-8422-5FDC02B4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CED80-CCA7-4301-A1ED-055DBF9D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D6DEF-8088-4CB8-94BD-75DE3B29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Enstrümantasyon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21812-16BF-400C-A0F2-3EB24856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FastAPI + HTTPX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OpenTelemetry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7EC0F-B13A-48CF-A626-0C8CAF47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86125"/>
            <a:ext cx="3619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5F11A-ECEB-4F0A-8B43-EFC1EA2D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5EB5A-0D45-4529-BD3D-27A0B190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F33E7-D11C-4DF1-83DA-3FBF15E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Toplama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A7B3F-A197-4925-AD4F-520403A7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OTLP Collector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resource enrichment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65549-6341-49BB-8A9F-B062EEB6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86125"/>
            <a:ext cx="3619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F31BA-394B-45F2-B516-E00A6007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C2D93-F86F-404B-8408-3E6BE9E1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A1A6C-5A27-422D-B173-193B0EDF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Depolama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F6750-9E3A-41FC-92B4-9C3D518B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Prometheus + Tempo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AOM + 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3CFB2-480C-4EA3-A7D7-AB386658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A6CE6-FFFA-4140-91A3-D03B844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87DC8-1867-4521-B7CC-D80213F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Kullanım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1D2D5-6324-4329-9881-3E557BB0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Grafana + alert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SLO + AIOps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29846-E7BE-4624-AA68-1CA23E8B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Uygulama kodu backend'e kilitlenmez; yönlendirme Collector katmanında değişir.</a:t>
            </a:r>
          </a:p>
        </p:txBody>
      </p:sp>
    </p:spTree>
    <p:extLst>
      <p:ext uri="{BB962C8B-B14F-4D97-AF65-F5344CB8AC3E}">
        <p14:creationId xmlns:p14="http://schemas.microsoft.com/office/powerpoint/2010/main" val="1698998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6D35C1-B010-4EE3-B0C3-140DDEE6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961CF-56C0-4D1C-BFA2-0854536D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AIOPS TESPIT YÖNTEMI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249BA-82A0-428F-AD88-A917BF1A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Hibrit model, açıklanabilir istatistiği örüntü algılamayla birleştiriyor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DC0FE-3BA9-4772-8DAE-7AD03B2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C61AE-6D07-49F8-9299-D17A0195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B4791-B506-417F-A927-4FBCDC47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EC655-5D64-4538-9FD2-98584C65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508FC-3FF2-4B16-BC0C-44298272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48C6E8"/>
                </a:solidFill>
              </a:defRPr>
            </a:pPr>
            <a:r>
              <a:rPr sz="4650" b="1">
                <a:solidFill>
                  <a:srgbClr val="48C6E8"/>
                </a:solidFill>
              </a:rPr>
              <a:t>65%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CC22D-F43B-46E1-823A-62FE6630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Robust sapma skoru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025AA-45E3-4CEB-8AF2-1EDA1818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Medyan + MAD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Outlier'lara dayanıklı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İnsan tarafından açıklanabilir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4D754-C5B7-42D9-B228-88282F06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F1FCE-49FB-415E-8E3E-2B77E36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04444"/>
                </a:solidFill>
              </a:defRPr>
            </a:pPr>
            <a:r>
              <a:rPr sz="4650" b="1">
                <a:solidFill>
                  <a:srgbClr val="F04444"/>
                </a:solidFill>
              </a:rPr>
              <a:t>35%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E9135-8D65-4E72-9717-22DC9C0E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Isolation Forest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ED459-DD5E-4707-9D89-6C1A1D6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Değer + değişim hızı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Etiketsiz örüntü algılama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Deterministik random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AA4C4-7484-4FEF-A2B0-BE85DEB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90875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2455A-4EC0-41FD-96B6-04FB0A9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337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BİRLEŞİK</a:t>
            </a:r>
          </a:p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SKOR</a:t>
            </a:r>
          </a:p>
        </p:txBody>
      </p:sp>
    </p:spTree>
    <p:extLst>
      <p:ext uri="{BB962C8B-B14F-4D97-AF65-F5344CB8AC3E}">
        <p14:creationId xmlns:p14="http://schemas.microsoft.com/office/powerpoint/2010/main" val="439738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02354-71C7-40CB-8979-E56C213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931AA-280C-456D-B11F-DB890E80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ANOMALI KANITI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6AB30-76EF-4519-A9DA-EC7EEC8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Sentetik replay, normal davranıştan kritik sapmayı görünür kılıyor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B375C-6D6F-4CFB-839C-8D8394C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7CF00-DF4D-4302-9E97-6FC0CA8B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FC04-90BA-405B-9F02-D81017C3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D1420-B785-4BAA-B20F-39CBA0A4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429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6953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5185517f74459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D39A5-790D-4A66-9075-1555BE6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13136-89C8-4D00-B2E4-F489672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BIRLEŞIK SKOR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2B7CE-AD21-4642-AD69-FA2308F5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05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0.91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499D3-5D36-4630-9482-094261C2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93801-72C9-4AE0-B0B1-2E21F2C0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SEVIYE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A00FE-383A-4576-AD17-65021807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KRİTİK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29E99-27F6-4709-95B3-041A839D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44635-DA36-47EC-93C6-92FDEAB7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14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BAZ MEDYAN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7CAF3-C822-4146-B6D5-EA934677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72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6E8"/>
                </a:solidFill>
              </a:defRPr>
            </a:pPr>
            <a:r>
              <a:rPr sz="2850" b="1">
                <a:solidFill>
                  <a:srgbClr val="48C6E8"/>
                </a:solidFill>
              </a:rPr>
              <a:t>0.21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A13EA-7C39-4A3A-89C3-BC4AB1C3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343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8713631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B76D11-EE3A-4E5E-867B-B3A9E094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E763D-524E-46E6-8098-49862168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AÇIKLANABILIR TEŞHIS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F0038-C09D-4825-9CE3-8BBAC087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Kök neden motoru, tek alarma değil korelasyonlu kanıta göre sıralıyor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E28DA-F14D-4E56-9B3B-5754E89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05ED1-D17E-403A-85DC-F42730CB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1CACB-52CA-4D6C-B01C-6693801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270C5-8941-4C3B-BDF1-A4E89D67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52937-1913-4C3A-B149-0AB0FD8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C4BC6-4C9E-4658-91E7-B6F28A6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717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CPU doygunluğu ve yetersiz replica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959CB-334F-4281-BF87-431D64E1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527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CPU + p95 gecikme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9C9D5-8BC9-49A9-957E-5BFF7946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476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4F7A6-3071-448E-9072-833A7C33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25361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FABB2-5FD7-45EF-A503-2EDBE81E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04444"/>
                </a:solidFill>
              </a:defRPr>
            </a:pPr>
            <a:r>
              <a:rPr sz="2100" b="1">
                <a:solidFill>
                  <a:srgbClr val="F04444"/>
                </a:solidFill>
              </a:rPr>
              <a:t>0.91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B627E-84B8-4842-A0F8-EE892E33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0F84C-120C-4F89-8598-484832EF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0042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B7089-F56A-46AE-A967-1C5720AF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62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Database pool baskısı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B397D-6866-49AF-9432-0B9EFF75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433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Pool + p95 gecikme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5B39F-B187-492D-B8D7-582BA35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2476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AEA1C-9967-43FE-A2D2-53BB419E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183261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1DDEE-B2FA-4585-B30C-F6E1710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575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6C453"/>
                </a:solidFill>
              </a:defRPr>
            </a:pPr>
            <a:r>
              <a:rPr sz="2100" b="1">
                <a:solidFill>
                  <a:srgbClr val="F6C453"/>
                </a:solidFill>
              </a:rPr>
              <a:t>0.74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A06A8-F3EA-4E2F-B5E0-8AE7188B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765CA-DEC9-412C-B218-B985AE4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910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F6B78"/>
                </a:solidFill>
              </a:defRPr>
            </a:pPr>
            <a:r>
              <a:rPr sz="2850" b="1">
                <a:solidFill>
                  <a:srgbClr val="5F6B7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445AA-7A25-421C-852F-CE2905FF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529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Kararsız uygulama sürümü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4AB03-81F7-4D62-96FC-D75D417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33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Restart + hata oranı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20072-200E-47D5-95D3-EC376C76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2476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D4EA85-B672-4DE2-9602-2A417D3B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104013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7CD9C-19E2-414E-B65F-D70D73F9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5F6B78"/>
                </a:solidFill>
              </a:defRPr>
            </a:pPr>
            <a:r>
              <a:rPr sz="2100" b="1">
                <a:solidFill>
                  <a:srgbClr val="5F6B78"/>
                </a:solidFill>
              </a:rPr>
              <a:t>0.42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BA26E-3FD2-41FB-914A-44F77A9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AA6B2"/>
                </a:solidFill>
              </a:defRPr>
            </a:pPr>
            <a:r>
              <a:rPr sz="1725" b="1">
                <a:solidFill>
                  <a:srgbClr val="9AA6B2"/>
                </a:solidFill>
              </a:rPr>
              <a:t>Eksik sinyal varsa hipotez üretilmez; güven eşiği karşılanmazsa aksiyon bloke edilir.</a:t>
            </a:r>
          </a:p>
        </p:txBody>
      </p:sp>
    </p:spTree>
    <p:extLst>
      <p:ext uri="{BB962C8B-B14F-4D97-AF65-F5344CB8AC3E}">
        <p14:creationId xmlns:p14="http://schemas.microsoft.com/office/powerpoint/2010/main" val="685449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3BF73-4729-4A2A-A49C-11915467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A9D7B-A5AA-45A7-A734-74100242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GÜVENILIRLIK YÖNETIMI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ABB6-B0B3-44B6-B9D7-3E8DE75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SLO ve hata bütçesi, alarm gürültüsünü iş etkisine bağlıyor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8A94E-9F19-4639-9F35-A693AFA0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F328E-ED76-4AAB-A82A-CCD94E64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79117-2CE2-4406-856F-9F9C4CB7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350AD-EB7C-4ED0-93DF-8FDCD8D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1D17C"/>
                </a:solidFill>
              </a:defRPr>
            </a:pPr>
            <a:r>
              <a:rPr sz="6300" b="1">
                <a:solidFill>
                  <a:srgbClr val="31D17C"/>
                </a:solidFill>
              </a:rPr>
              <a:t>99.9%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142D5-EBB2-4B8B-AC1D-85BAAC8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30 günlük erişilebilirlik hedefi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FFB0E-68A7-4C5C-8AA4-FDC6B087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6B2"/>
                </a:solidFill>
              </a:defRPr>
            </a:pPr>
            <a:r>
              <a:rPr sz="1650" b="0">
                <a:solidFill>
                  <a:srgbClr val="9AA6B2"/>
                </a:solidFill>
              </a:rPr>
              <a:t>1.000.000 istekte ≈ 1.000 başarısız isteklik bütçe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51FC7-C3CF-485B-B4AC-644E7C68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238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CA72F-40E8-4CCA-8BD2-F03723E5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HATA BÜTÇESİ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AE740-397C-479F-A73F-E8934D2E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44767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D7A63-CFEB-4B73-8B9B-CDC7558F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33528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D21C3-7DD6-46D5-B40E-E0ADD9F5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528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D17C"/>
                </a:solidFill>
              </a:defRPr>
            </a:pPr>
            <a:r>
              <a:rPr sz="2250" b="1">
                <a:solidFill>
                  <a:srgbClr val="31D17C"/>
                </a:solidFill>
              </a:rPr>
              <a:t>%75 kalan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93535-B1CD-44FF-9FB0-91062EAE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52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6C453"/>
                </a:solidFill>
              </a:defRPr>
            </a:pPr>
            <a:r>
              <a:rPr sz="1650" b="1">
                <a:solidFill>
                  <a:srgbClr val="F6C453"/>
                </a:solidFill>
              </a:rPr>
              <a:t>250 tüketildi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C73EB-DCE4-4D98-9F72-1C68BD33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9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5173B-6B1B-48FA-85B1-8941AB76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43375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14.4× hızlı burn → kritik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6AE40-428F-4049-B417-220DD331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672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366C1-5E4B-4C4E-8575-C588B233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3× yavaş burn → uyarı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FEE48-7E0F-407B-80DE-0D090757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Alarm sorusu: “metrik yükseldi mi?” değil, “güvenilirlik riski acil mi?”</a:t>
            </a:r>
          </a:p>
        </p:txBody>
      </p:sp>
    </p:spTree>
    <p:extLst>
      <p:ext uri="{BB962C8B-B14F-4D97-AF65-F5344CB8AC3E}">
        <p14:creationId xmlns:p14="http://schemas.microsoft.com/office/powerpoint/2010/main" val="9944335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E3FE5-6DD8-42D6-AE61-5FFCA170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B29D0-A37A-4FE2-868C-01BEC566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GRAFANA • YÖNETICI GÖRÜNÜMÜ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A8AE2-6AA4-4737-93BF-7AD350BF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Yönetici görünümü, sağlık ve risk sinyallerini tek bakışta özetliyor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47650-08A5-49A8-BB82-9F6EB286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B1EE9-68CD-4398-B504-A31FF3F6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4AE85-0D42-4BEE-844B-626BCFFC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61574-2CE4-42AE-80C6-E3303E7D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C9B6A-008A-4CC4-853B-2E4C8457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1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9DE13-8677-4967-BEF1-ADACB6A7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</a:defRPr>
            </a:pPr>
            <a:r>
              <a:rPr sz="1050" b="0">
                <a:solidFill>
                  <a:srgbClr val="5F6B78"/>
                </a:solidFill>
              </a:rPr>
              <a:t>●  ●  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B2D2D-AFD3-4FF1-89F3-317AE250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HUAWEI CLOUD AIOPS — YÖNETİCİ GÖRÜNÜMÜ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9854B-E75A-4FF8-9CE6-E42190E3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76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6B2"/>
                </a:solidFill>
              </a:defRPr>
            </a:pPr>
            <a:r>
              <a:rPr sz="900" b="1">
                <a:solidFill>
                  <a:srgbClr val="9AA6B2"/>
                </a:solidFill>
              </a:rPr>
              <a:t>LAST 6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684C6-059A-403B-B8B9-7FD048B2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34E75-63CC-4BA5-9D82-91045FE4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ERIŞILEBILIRLIK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10961-E70F-43A9-BE0B-890A94C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99.94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60DCC-28F0-4401-B74E-D83165C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31EC0-0C48-4FCD-8FD4-D0BF67A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E43A1-652B-4470-AA77-816FD752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P95 LATENCY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A0EC3-E927-45DD-A1FE-043998CC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412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80957-B323-4CEF-9D6A-649D1402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13920-D66B-4629-B295-50208A31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A72FD-36F1-4EC8-A352-934796C8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AKTIF OLAY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F1481-854C-49EF-8F86-B052B169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D2A92-CDB4-4D26-8315-6426D872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D2368-6DE7-410D-B306-7E1B3BCE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RISK SKORU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4589D-BA94-4B2B-B335-E98C7D0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0.71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69BA4-1C38-4CA4-BDF4-9D8D3C7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AB03B-623C-4869-BC85-E3799CEE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SERVİS TRAFİĞİ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F92D0-38CF-4179-AB80-012E1677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62575"/>
            <a:ext cx="415636" cy="-187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87A3F-F4E7-4BF0-8B61-FE61E0AC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761" y="5175006"/>
            <a:ext cx="415636" cy="9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7D6EE-8BCC-4916-B2D0-BAAEA846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398" y="5268790"/>
            <a:ext cx="415636" cy="-32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22CA9-3318-4829-93DF-5371D92D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034" y="4940544"/>
            <a:ext cx="415636" cy="9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3E05A3-2BB9-43EC-B842-C733EFFD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70" y="5034329"/>
            <a:ext cx="415636" cy="-281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D82A4-2497-4621-8AF5-4767F493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07" y="4752975"/>
            <a:ext cx="415636" cy="9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F20B8F-E2FE-43B2-B684-6CD7D20C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943" y="4846760"/>
            <a:ext cx="415636" cy="-281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D078B1-0F33-48A0-B8AD-CA9CA324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80" y="4565406"/>
            <a:ext cx="415636" cy="-32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D9263D-5182-4447-A5B7-12E933C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216" y="4237160"/>
            <a:ext cx="415636" cy="187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04B021-FB46-4436-BE81-5306FA91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852" y="4424729"/>
            <a:ext cx="415636" cy="-281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758DEE-C74F-4E93-85EF-BA265FF4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489" y="4143375"/>
            <a:ext cx="415636" cy="187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D0D2C8-A23E-4641-AA8C-B5D5CC85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D352A6-BDCB-4FB5-825F-D09C9B91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2905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ANOMALİ ZEKÂSI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84BE35-5E91-444C-AF8B-5923B5A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62575"/>
            <a:ext cx="432955" cy="-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0E1680-2DDF-4F79-84D7-FB1B2FD5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830" y="5344905"/>
            <a:ext cx="432955" cy="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B48B89-167C-4892-95D1-D8EF22DA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784" y="5362575"/>
            <a:ext cx="432955" cy="-3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4C129D-51FA-41DB-8018-F8C5E37B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739" y="5327236"/>
            <a:ext cx="432955" cy="-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8F9D64-69E8-4ACC-8920-CABA72E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693" y="5309566"/>
            <a:ext cx="432955" cy="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B7654E-5222-4667-8D31-1FEA6D7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648" y="5327236"/>
            <a:ext cx="432955" cy="-7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14C2B8-4C0F-4F4B-BECA-00AE6C5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602" y="5256558"/>
            <a:ext cx="432955" cy="-7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4ACFAF-5826-4AF8-917A-1CB3B2DB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557" y="5185879"/>
            <a:ext cx="432955" cy="-106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40E432-5E68-40F1-A3B4-8EA31AA7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11" y="5079862"/>
            <a:ext cx="432955" cy="-212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AB62C2-C7DE-4459-B511-34661D8E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466" y="4867827"/>
            <a:ext cx="432955" cy="-7244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5DF22B-43AF-4AFA-95E6-F28D28C8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420" y="4143375"/>
            <a:ext cx="432955" cy="335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00167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9AD93-AF32-4E5B-968F-C32B579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EC62C-F452-4EB6-9F58-B0FD651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GRAFANA • SLO VE HATA BÜTÇESI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3088F-2CF2-47A2-B423-1A2238D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SLO görünümü, bütçe tüketimini hızlı ve yavaş burn pencereleriyle izliyor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5C5A5-BAB4-4352-9BB2-215A4889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9AED8-257D-4A6F-8754-E70E6C11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8171B-E85D-4E2F-AEB4-39A7195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6DF0-1D60-4301-BC72-4FF61BE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62BED-0420-4DD9-B99A-1DF78EA8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1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3043D-D163-4A9A-9319-9025B2E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</a:defRPr>
            </a:pPr>
            <a:r>
              <a:rPr sz="1050" b="0">
                <a:solidFill>
                  <a:srgbClr val="5F6B78"/>
                </a:solidFill>
              </a:rPr>
              <a:t>●  ●  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C9F57-0E92-4AC0-B223-B8AB390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HUAWEI CLOUD AIOPS — SLO &amp; HATA BÜTÇESİ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C3A86-A76D-4DDF-B630-4C6A5F7B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76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6B2"/>
                </a:solidFill>
              </a:defRPr>
            </a:pPr>
            <a:r>
              <a:rPr sz="900" b="1">
                <a:solidFill>
                  <a:srgbClr val="9AA6B2"/>
                </a:solidFill>
              </a:rPr>
              <a:t>LAST 6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0B741-4167-4323-85BA-12E48150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8735D-E528-4757-A6E8-F2EBDE44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1D17C"/>
                </a:solidFill>
              </a:defRPr>
            </a:pPr>
            <a:r>
              <a:rPr sz="3600" b="1">
                <a:solidFill>
                  <a:srgbClr val="31D17C"/>
                </a:solidFill>
              </a:rPr>
              <a:t>0.82×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AF184-3233-4201-9CC9-AEEB663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Bütçe burn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B6F14-41A8-4A61-B981-6E65FF0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5087E-8BD3-4B55-A4E2-318BC895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6C453"/>
                </a:solidFill>
              </a:defRPr>
            </a:pPr>
            <a:r>
              <a:rPr sz="3600" b="1">
                <a:solidFill>
                  <a:srgbClr val="F6C453"/>
                </a:solidFill>
              </a:rPr>
              <a:t>412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CA274-4C22-4D14-A904-E26DC345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p95 latency SLO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C4B2E-6875-4160-966C-52B45B1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3524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60A9B-49FB-481B-AF46-55C9BBB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1D17C"/>
                </a:solidFill>
              </a:defRPr>
            </a:pPr>
            <a:r>
              <a:rPr sz="3600" b="1">
                <a:solidFill>
                  <a:srgbClr val="31D17C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73C97-9FDF-431D-BA05-AEBFAB2F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Aktif SLO alarmı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59F2A-9722-48F7-9070-4ECB4BA6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891A0-D005-44A8-A5C8-FF85D7D6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100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HATA BÜTÇESİ TÜKETİMİ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4AB6F-9727-4F87-806C-705CD5C1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9049"/>
            <a:ext cx="508000" cy="735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79E6E-8502-468C-A9D7-601CA59C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125" y="5362575"/>
            <a:ext cx="508000" cy="-220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7C586-BA66-4F7E-8646-C3CD0417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25" y="5141996"/>
            <a:ext cx="508000" cy="735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B0DFE-67BE-4B92-A5FB-EB46D441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15522"/>
            <a:ext cx="508000" cy="-367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C114E-979C-46D4-8686-0B0E173C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25" y="4847891"/>
            <a:ext cx="508000" cy="-147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4FCA8-ED74-4F14-9E16-0055CB82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25" y="4700838"/>
            <a:ext cx="508000" cy="220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AF91B-5B1C-4342-B3C1-880260FE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21417"/>
            <a:ext cx="508000" cy="-397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8803F-5ECC-44A1-9929-35B278EB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125" y="4524375"/>
            <a:ext cx="508000" cy="249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F8248-7FA5-4085-B9F6-3D48D3DE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4774364"/>
            <a:ext cx="508000" cy="-735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95DC28-3F01-4248-B208-8D35ED83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957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029BE4-1FDE-4C88-99C4-101BF47F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1005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SERVİS p95 GECİKME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9D6024-7FA0-42CA-B282-A3C0FF9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62575"/>
            <a:ext cx="529167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C8FC52-5396-484E-9134-2F7E1798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042" y="5286375"/>
            <a:ext cx="529167" cy="-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D6B0DE-91DB-4B40-9727-B6342C5E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5172075"/>
            <a:ext cx="529167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E29678-B1EF-4FB6-B41A-E443CC84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981575"/>
            <a:ext cx="529167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3D0753-F96D-4368-89BF-C1309FB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542" y="5057775"/>
            <a:ext cx="529167" cy="-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EA4647-640C-45B4-B786-CE9B19F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708" y="4791075"/>
            <a:ext cx="529167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B807DE-CF4B-48D4-A4D6-A8FA0DCC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4562475"/>
            <a:ext cx="529167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45D8EC-823E-425B-8B04-22231206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042" y="4714875"/>
            <a:ext cx="529167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336809-02E2-4061-B1D9-D1B0A18A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208" y="4524375"/>
            <a:ext cx="529167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48445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425063-D917-4143-A4F1-FF96BA6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27FBE-34DA-4AED-A11B-EB368620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GRAFANA • OLAY ZEKÂSI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C5AC7-685E-42CB-B08C-062ABDD3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Olay zekâsı görünümü, anomaliyi aksiyon sonucu ve iş etkisiyle birleştiriyor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1FA50-27CB-45C5-99D4-64D65575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6E602-3C4C-4F57-BCBD-59A4B193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DB1F7-0638-419E-A059-DCAD538A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9692A-3EA9-49F5-A3A0-87E01CBB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DD7EE-3C3F-406B-B12D-B4C15CA7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1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53EDB-63BB-41BD-A758-84114594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</a:defRPr>
            </a:pPr>
            <a:r>
              <a:rPr sz="1050" b="0">
                <a:solidFill>
                  <a:srgbClr val="5F6B78"/>
                </a:solidFill>
              </a:rPr>
              <a:t>●  ●  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4C969-31A0-47F4-BEE2-DCF246EC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HUAWEI CLOUD AIOPS — OLAY ZEKÂSI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D5F4D-94D3-411A-A60A-D03585A6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76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6B2"/>
                </a:solidFill>
              </a:defRPr>
            </a:pPr>
            <a:r>
              <a:rPr sz="900" b="1">
                <a:solidFill>
                  <a:srgbClr val="9AA6B2"/>
                </a:solidFill>
              </a:rPr>
              <a:t>LAST 6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D58FA-2982-49C5-ADC5-1277A9E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E757F-36A0-4658-9280-4592101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AÇIK OLAY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94B4F-CADE-4537-A850-6C47F53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08568-2389-4D5D-93BB-B1D797F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DD04E-070B-4F31-B800-71A3355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MEVCUT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2A933-1BBE-4B08-B569-A94888C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0.91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87FD9-A009-4A10-BB63-BA143EA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5F1FB-992F-424D-9CEC-6C2D69D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AKSIYON BAŞARISI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AA4C9-9B3B-4D62-BD5E-DD208A74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89707-2B83-4502-95AB-0F5FF00D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83AD4-29C7-4089-994F-BC3A17A1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733E9-C1B6-4893-A22A-CFF35062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GUARDRAIL BLOK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6E6A4-841E-4E3E-BF6B-E677A19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CD416-7E5A-48C9-B4DB-7AA41B6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685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68592-2421-4A6A-98FE-19F6C9C2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655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ANOMALİ ZAMAN ÇİZGİSİ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3E93C-7268-4AF4-9E96-F47E219B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47707"/>
            <a:ext cx="588818" cy="-148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93BD9-B796-457C-ADD8-A3F3E281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943" y="5332838"/>
            <a:ext cx="588818" cy="29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8112CB-E9B1-4481-A65B-92F549BF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761" y="5362575"/>
            <a:ext cx="588818" cy="-892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F9880-A02C-4B2D-9943-BA53323E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580" y="5273365"/>
            <a:ext cx="588818" cy="29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B9519-B236-4100-8C34-B7D36E87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398" y="5303102"/>
            <a:ext cx="588818" cy="-104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BE586D-7F05-4E0F-A878-FE1E8488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216" y="5199024"/>
            <a:ext cx="588818" cy="29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05A17-C97D-49E5-B2DF-5AD9B184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034" y="5228760"/>
            <a:ext cx="588818" cy="-252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D75626-1F87-4FCF-8D96-0BCD8273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852" y="4975999"/>
            <a:ext cx="588818" cy="-371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DB508-2330-4512-A948-AAA2C30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670" y="4604292"/>
            <a:ext cx="588818" cy="-460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04EE31-95FD-4053-9824-BEBBAB66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489" y="4143375"/>
            <a:ext cx="588818" cy="490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C4B04-8D9D-4259-B17C-98213F5E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307" y="4634029"/>
            <a:ext cx="588818" cy="416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23AC2-3B1B-4E4B-841F-F5CBBD52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BC22F3-CC7B-4A67-9364-27B4C65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86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OTOMASYON SONUCU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3CEF18-6F65-4560-BAFF-D4B7B20B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33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D17C"/>
                </a:solidFill>
              </a:defRPr>
            </a:pPr>
            <a:r>
              <a:rPr sz="2550" b="1">
                <a:solidFill>
                  <a:srgbClr val="31D17C"/>
                </a:solidFill>
              </a:rPr>
              <a:t>SCALE +1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7BA9B6-C9CE-434D-9F23-0779A9E2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dry-run • policy passed</a:t>
            </a:r>
          </a:p>
        </p:txBody>
      </p:sp>
    </p:spTree>
    <p:extLst>
      <p:ext uri="{BB962C8B-B14F-4D97-AF65-F5344CB8AC3E}">
        <p14:creationId xmlns:p14="http://schemas.microsoft.com/office/powerpoint/2010/main" val="674121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87480-B304-45B7-AF0A-601C29A5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46A6F-2D2C-4F45-94BD-5CA17D1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POLITIKA VE GUARDRAIL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27E33-25C9-49C5-811D-0E23DDB1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Otomasyon, hızdan önce geri döndürülebilirlik ve sınırlandırmayı seçiyor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8BD05-E4E4-44ED-B651-4FA52A19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8D12A-4D78-45A8-AD91-214B167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FA828-CCD9-49CB-B160-10A0E49C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0E8FF-E15D-4389-AA7B-60CE9DD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69FC7-2925-43E7-90A3-04126C2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1250-F93F-4EA0-8254-A7F4472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4E259-52CE-4520-9503-22EC0CD0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Kanıt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0C3EB-2E6D-4281-8A39-3FD5C75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Gerekli sinyaller tamam mı?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A0479-9CE0-477E-BE6A-3C8460B5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1B43B-F7D3-4FBE-AB81-4600CD8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40E62-C02D-45D2-8CB0-CF9A38B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E201F-A903-4681-9265-6C1E65A4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Güven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B5FE6-FEE5-4A71-86E5-72FE1EE9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Hipotez eşiği geçti mi?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04C6C-6ADD-4EE3-B54A-32FBE8C6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61889-17F1-4A14-9261-25D379A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AE890-FA04-422A-916E-FD823AB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F7BF1-A49D-4A21-A4DF-824E31F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48202-9920-4A18-96C0-B8FC64D3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Aksiyon düşük/orta riskli mi?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D2BFF-B72B-4CD0-8026-8DD6BC5D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7B25B-5B2F-43BD-B874-5C465A9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9EE49-C27A-4CC1-AA9E-A2E164BC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14FD7-938A-4F54-8EC5-379C7436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Yetki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6DF58-B4D5-4C22-B27B-497EC36E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Target allow-list ve RBAC uygun mu?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13F40-624D-4F67-B7DA-D2E1539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31D1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5A364-BA5D-4E35-A73E-350B98FC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D17C"/>
                </a:solidFill>
              </a:defRPr>
            </a:pPr>
            <a:r>
              <a:rPr sz="2250" b="1">
                <a:solidFill>
                  <a:srgbClr val="31D17C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9AD61D-E968-4EB8-B4B9-EC58DAB5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Cooldown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004AA-0F61-4B69-A274-DAD4231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Tekrarlı aksiyon engellendi mi?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3BC14-08B9-4931-9FD7-527AA24E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530D5-ACBD-406F-9EB8-0C6B158E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4444"/>
                </a:solidFill>
              </a:defRPr>
            </a:pPr>
            <a:r>
              <a:rPr sz="1875" b="1">
                <a:solidFill>
                  <a:srgbClr val="F04444"/>
                </a:solidFill>
              </a:rPr>
              <a:t>Rollback yüksek risklidir → otomatik çalışmaz, insan onayı gerekir.</a:t>
            </a:r>
          </a:p>
        </p:txBody>
      </p:sp>
    </p:spTree>
    <p:extLst>
      <p:ext uri="{BB962C8B-B14F-4D97-AF65-F5344CB8AC3E}">
        <p14:creationId xmlns:p14="http://schemas.microsoft.com/office/powerpoint/2010/main" val="20471399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D0481-3164-4F07-90C2-4EC4AA7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83BCF-FDF7-4F81-9B11-41603DD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OLAY SIMÜLASYONU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9D184-C472-4AF3-9260-AD6CB75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Tek olay senaryosu, tespitten doğrulamaya bütün kontrol zincirini test ediyor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E2A55-C688-4A11-8B94-ADB4D688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5C51F-3255-499D-84D4-F32D6D00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24CFF-FD09-4F5C-BC1D-314DAE4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F0D36-27E5-4DE0-8D59-45DF2614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46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10475-5714-4918-A67F-9A4B97CC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77E81-864F-4AC5-91B4-689F40D7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E9541-4E9B-4D18-9D40-95A13CE0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14030-99F1-4DD7-956C-4EEC21C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Trafik artışı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38A6F-561E-4EA8-9103-3ACE7E9C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CPU ve p95 yükselir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EC76E-0AE5-4871-90E8-A3A482E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04F7A-C90E-4A2B-9BAC-A8F0690A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D9B8D-B0E6-4D9B-8755-0657F747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807D4-378A-405E-817C-449E82B9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Anomali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9CCD0-06B8-4D5C-9E9F-EA85CEF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Skor 0.91'e çıkar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94C58-5BE9-45CF-B314-A4DAF633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97C09-88F7-47D6-B218-6D221A1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BAC6A-9E7F-40FD-8BCD-1625DF8E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D6A3B-C394-416C-BB5B-D20EFCE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Teşhis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274EA-5E24-418B-BBEB-346CB93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Kapasite %91 güven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04501-0B1E-4A37-AE9E-07C7B0EC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743A4-C8D2-409F-A103-A60B01F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A1324-6B8A-47E6-977C-BA126888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00:38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DB42F-3B66-44DB-A7B8-DA44EA7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Politika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82798-DBDF-4A87-A386-6E214E46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5 guardrail geçer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30D7D-2020-44A6-8D1A-9224DC4F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42445-9556-4E62-8D78-B00A9E97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D3ACA-7E02-4AC7-AF5A-B3CF9076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C7089-2F81-45E7-A165-E4A9578C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Müdahale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754E6-BC95-4F93-BA9D-2041837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Scale +1 dry-run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EB7754-1658-4E23-896C-1F999639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BEEF8B-098C-4199-966A-9CEC69C7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7264B2-FD9A-420E-9E85-AAE90EB8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01:10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89E8CC-FE29-411F-B8A5-EB0E23F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Doğrulama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A01066-D535-4F49-B53A-6D95FCF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SLO burn geriler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1F55A1-7211-42BA-8A90-3548A889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Amaç “self-healing” iddiası değil; ölçülebilir, denetlenebilir ve güvenli otomasyon.</a:t>
            </a:r>
          </a:p>
        </p:txBody>
      </p:sp>
    </p:spTree>
    <p:extLst>
      <p:ext uri="{BB962C8B-B14F-4D97-AF65-F5344CB8AC3E}">
        <p14:creationId xmlns:p14="http://schemas.microsoft.com/office/powerpoint/2010/main" val="249962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496E4A-3984-410B-9990-9AF52A12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B79EB-EA00-4D20-BA38-5A1ED32A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HUAWEI CLOUD HEDEF MIMARISI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7CDD7-7E8B-4ED1-A3C8-0FD8B7A4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Açık kaynak bileşenler, Huawei Cloud yönetilen servisleriyle net biçimde eşleşiyor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43137-2589-44B5-A845-8A4D60D5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3AC65-F45A-4619-BC28-DF06A95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23242-FDC8-4AE4-9E0B-7B8ED8B3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B0BB3-C5CB-40EB-AE6A-9A415EDF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FDEC0-22FA-4BB7-AFD6-EC3D740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81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Kubernetes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A5940-7611-46BB-8E14-C21205C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AC03B-711B-4D98-B6C5-00FA40D9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73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6A8D3-6EBE-4C5C-8E72-88D8276E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C6E8"/>
                </a:solidFill>
              </a:defRPr>
            </a:pPr>
            <a:r>
              <a:rPr sz="1800" b="1">
                <a:solidFill>
                  <a:srgbClr val="48C6E8"/>
                </a:solidFill>
              </a:rPr>
              <a:t>CCE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9F701-8732-42AA-9FEF-C4C91AEB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33EEE-90DE-4591-973D-AB7DEBDD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Container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65FBC-F12C-4D43-83A8-EF653C9B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854B8-C12E-4A8F-803D-1A332F4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431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001B0-C0FE-427A-8E39-1E70C7DE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38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C6E8"/>
                </a:solidFill>
              </a:defRPr>
            </a:pPr>
            <a:r>
              <a:rPr sz="1800" b="1">
                <a:solidFill>
                  <a:srgbClr val="48C6E8"/>
                </a:solidFill>
              </a:rPr>
              <a:t>SWR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27F21-C01B-4F28-9201-25BBFF7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3A1A9-96F2-4CD9-A433-BFE75AA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52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Unified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C299A-2645-497B-8181-3EEB3EDB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96006-C990-42A6-97A7-7B979602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289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E430A-A498-463D-A450-D3FEB95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242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AOM 2.0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DC007-9DCC-48D0-BA33-2BD35EF1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41B0E-A654-4B59-B4A0-2576D177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38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Container 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D50A5-598F-49E1-BD8D-7E189708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12667-EC42-4061-807A-1154BAE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147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E2414-7E77-486F-94DD-B5E73061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00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F3786-AB9A-4BB7-9AB2-6BD3331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2457C-4D49-4BA0-80B0-F31CA0C0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Retained exports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31CC33-2CDB-4239-BE54-8FB442C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3787E-A4E2-4040-8B99-C05877C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005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FEB3B-467B-4767-8A5A-0F75321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958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OBS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7019B3-7781-4F47-91FB-7A6DF9C9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389BB6-4D42-4EE9-AA80-B4FEFAB4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10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Cloud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1EC7B-D76B-4421-9DC1-939A4642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864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90D538-C0A7-406B-9B09-FA128974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863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578A1E-801B-4F84-A35D-BBD35980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81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Cloud Eye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F55958-0ED5-471E-B149-D7EB0863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00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6C453"/>
                </a:solidFill>
              </a:defRPr>
            </a:pPr>
            <a:r>
              <a:rPr sz="1425" b="1">
                <a:solidFill>
                  <a:srgbClr val="F6C453"/>
                </a:solidFill>
              </a:rPr>
              <a:t>Durum: cloud-deployment-ready • gerçek apply kullanıcı hesabı ve onay gerektirir</a:t>
            </a:r>
          </a:p>
        </p:txBody>
      </p:sp>
    </p:spTree>
    <p:extLst>
      <p:ext uri="{BB962C8B-B14F-4D97-AF65-F5344CB8AC3E}">
        <p14:creationId xmlns:p14="http://schemas.microsoft.com/office/powerpoint/2010/main" val="16746593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5ACFA-47F7-42C1-BEEC-3E5CAD8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250DA-4149-4535-95A3-0FE4401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GÜVENLIK MIMARISI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51254-028B-49E8-9493-B83B8570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Savunma katmanları, otomasyonun blast radius'unu kasıtlı olarak küçültüyor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96C51-55A6-4129-A071-28E82F5B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ED547-284E-4DC1-A229-B8EE0F28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A2762-9366-4912-8107-59745997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F6809-313C-4CC1-BE78-8EC5C33C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990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0E8F7-8164-4491-946F-AF26DA9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669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C6E8"/>
                </a:solidFill>
              </a:defRPr>
            </a:pPr>
            <a:r>
              <a:rPr sz="1650" b="1">
                <a:solidFill>
                  <a:srgbClr val="48C6E8"/>
                </a:solidFill>
              </a:rPr>
              <a:t>Supply 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E69CB-3900-442B-8EB4-1DFF6374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728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Trivy 0.35.0 • CodeQL v4 • pinned 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F1B45-CE78-4D29-AE3A-407DA15A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86050"/>
            <a:ext cx="8477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20126-57F9-445C-AE8F-857A9325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47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C6E8"/>
                </a:solidFill>
              </a:defRPr>
            </a:pPr>
            <a:r>
              <a:rPr sz="1650" b="1">
                <a:solidFill>
                  <a:srgbClr val="48C6E8"/>
                </a:solidFill>
              </a:rPr>
              <a:t>Container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361CE-E1A8-417F-84DF-7D61D274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47975"/>
            <a:ext cx="585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non-root • read-only FS • no privilege 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7E83A-8664-419A-96CC-E636CB5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7048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10B99-D6DE-4C0F-8389-8EDC528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290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C6E8"/>
                </a:solidFill>
              </a:defRPr>
            </a:pPr>
            <a:r>
              <a:rPr sz="1650" b="1">
                <a:solidFill>
                  <a:srgbClr val="48C6E8"/>
                </a:solidFill>
              </a:rPr>
              <a:t>Kubernetes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B17D7-B4A9-4744-9FAB-AB9C3E65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290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default-deny NetworkPolicy • HPA • PDB • probes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44A59-DC1F-4489-BDEB-641F0BB2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48150"/>
            <a:ext cx="561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6FAB2-4045-489F-9A74-92B92BD2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10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44"/>
                </a:solidFill>
              </a:defRPr>
            </a:pPr>
            <a:r>
              <a:rPr sz="1650" b="1">
                <a:solidFill>
                  <a:srgbClr val="F04444"/>
                </a:solidFill>
              </a:rPr>
              <a:t>Automation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51C87-8AFA-4AD3-95F0-07691FF0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1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namespace Role • allow-list • cooldown •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0A573-213C-495A-B219-6EAA54AC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29200"/>
            <a:ext cx="419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EA904-2945-46B0-BCD9-711E00C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91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44"/>
                </a:solidFill>
              </a:defRPr>
            </a:pPr>
            <a:r>
              <a:rPr sz="1650" b="1">
                <a:solidFill>
                  <a:srgbClr val="F04444"/>
                </a:solidFill>
              </a:rPr>
              <a:t>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FDEAF-A569-4DAE-8A80-AD4EAC69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private SWR • immutable tag/digest • manual cloud publish</a:t>
            </a:r>
          </a:p>
        </p:txBody>
      </p:sp>
    </p:spTree>
    <p:extLst>
      <p:ext uri="{BB962C8B-B14F-4D97-AF65-F5344CB8AC3E}">
        <p14:creationId xmlns:p14="http://schemas.microsoft.com/office/powerpoint/2010/main" val="10043560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5E9FF-F906-46E4-BF63-D9039B33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90B5C-2DBF-491E-95A6-8AD75562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KANIT VE KALITE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1EEF7-C874-43F0-94BB-14FE22B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Doğrulama paketi, koddan sunuma kadar teslim kalitesini ölçüyor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DD1E3-494D-4F9E-896C-818CD858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E02E7-7E62-4B80-9D7C-C8B37F91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97511-D937-42D1-9255-1745B872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0903A-1C06-4A4C-9D02-D5068C58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4B82F-0080-463B-9C50-17FB86B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GEÇEN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DA2F2-ED1E-43C6-9CE6-CBD7FC1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14403-F66A-48EA-8F3F-A0097374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41DCF-0431-404D-8DD0-5805567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KOD KAPSAMI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A8A38-0A54-45A5-B16D-3284D6E9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93.76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243B7-C5D5-4232-B411-E290325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43E14-59EA-48DA-BFEA-A2B9491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CEF6B-F6B3-4557-8D7A-0E7C3309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GRAFANA PANELI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AAE1B-1153-4336-9A05-EAE3ED9C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6E8"/>
                </a:solidFill>
              </a:defRPr>
            </a:pPr>
            <a:r>
              <a:rPr sz="2850" b="1">
                <a:solidFill>
                  <a:srgbClr val="48C6E8"/>
                </a:solidFill>
              </a:rPr>
              <a:t>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9203F-34C6-4ECB-821D-8990A3A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4F1C1-4205-42BC-9B22-76EFCDA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RUNBOOK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D0945-189F-46DD-9B4C-F16C600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FFDA8-5113-4ADB-B265-7B1CB411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4B44A-1222-4617-B2A0-0B1DCDF2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76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7CF70-C45D-48CC-9E42-F6747D3F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72363-37D6-4ADE-B1A7-33442C03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385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Ruff lint + format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F92F5-FD72-41CA-AC7A-33C811B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A7DF1-98AD-40FA-9FE2-34839228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76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76EF6-E6E9-4B0F-9D10-1BC17DA5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9F90F-4EAD-4FCA-859D-5F9939CF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Pytest + branch coverage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1EE07D-9E42-4C1E-8962-3CA282A6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9EF64E-2796-46FE-B99B-C47A5E78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62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6DF19-D4C8-4AFD-B1B6-BB224219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3D66F-F025-47A0-A492-5A32524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24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Docker Compose config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71E070-18DC-4747-8082-E19F3091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7C0569-C8B6-4549-B5E6-A5AAE863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571269-2ABE-4121-82CB-E8068EC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7248E5-2A59-463E-BB04-C353A47F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24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Helm lint + render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15C657-6FF7-4F1D-A1A0-06505539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83447-615E-4784-B000-0AFE809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DAE2C8-AD3D-4AA9-9D1E-C268E852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80D8C8-F627-4C5A-837D-5BE1792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01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Terraform fmt + validate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4FA3AF-2492-412B-A55D-83A3C9E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01A521-7D82-4342-9590-F81EF907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48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75CF98-0A45-47D8-BB33-C98FBC48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A5FB9B-6BF8-4B15-99D6-431B204D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01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Trivy + CodeQL</a:t>
            </a:r>
          </a:p>
        </p:txBody>
      </p:sp>
    </p:spTree>
    <p:extLst>
      <p:ext uri="{BB962C8B-B14F-4D97-AF65-F5344CB8AC3E}">
        <p14:creationId xmlns:p14="http://schemas.microsoft.com/office/powerpoint/2010/main" val="2352037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1858C-F579-4625-BCE3-8839B8F0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AAE94-BD94-4890-9D0E-F1685E49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PROFESYONEL PROJE PAKETI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D0DEC-62BB-4030-96E8-279AF886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Teslim yapısı, teknik inceleme ve iş görüşmesi için birlikte tasarlandı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0E8BF-C438-40F3-AB47-F2BD8666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C5D51-8617-48FE-BB4F-4D472DC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6CB0A-49C7-453E-B6FD-AA7D1F56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E2C3F-5D87-4B6D-B19B-8342B315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F0575-2F83-447B-8AAD-E22072BA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UYGULAMA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4CBBD-824D-4A50-9D08-75F8FCE9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669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4 FastAPI servisi + AIOps motoru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A1AC8-736D-469F-8FDE-CA6C1AAC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B8B52-BB5B-467F-85F7-9D473397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OPERASYON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9103E-BFD3-42BD-A987-EC7EAA1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3 Grafana dashboard + SLO + alert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FBDD0-B090-40D2-ACE1-5E7A13EB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A2C8C-1E0C-45E7-9A6F-19FD5C3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43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0DED-2EA6-47B7-9318-AD43026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576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Terraform + Helm + CCE/SWR/OBS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87C63-A435-4B34-A5EE-564E09CC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C04B9-9CF7-4A93-9ACA-193D069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43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GÜVENLIK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2D638-E3FF-4509-B15E-CE12771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576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RBAC + NetworkPolicy + Trivy + CodeQL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E87AC-FB17-4E59-8BA6-83DBF1C1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1F4B1-0DB7-408D-9868-B222D7DD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33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DOKÜMANTASYON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A7DE0-C157-475E-91AA-2FC79FA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48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6 runbook + 4 ADR + threat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6C96D-7CDF-4577-8ACB-C7187DA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F8B1B-4185-4920-BCC4-8BDB478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33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SUNUM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6A9BB-6CF7-44F1-B36A-89D2DBDF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48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20 slayt TR + 20 slayt EN + yönetici 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B3A71-7B98-4C5F-9F4E-FDEA76B4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Repository, yalnızca kod değil; işletim modeli ve karar hikâyesi sunar.</a:t>
            </a:r>
          </a:p>
        </p:txBody>
      </p:sp>
    </p:spTree>
    <p:extLst>
      <p:ext uri="{BB962C8B-B14F-4D97-AF65-F5344CB8AC3E}">
        <p14:creationId xmlns:p14="http://schemas.microsoft.com/office/powerpoint/2010/main" val="3460398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200F3-9546-46B8-A0B1-681900E6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9EDFB-9329-4095-9215-7959B655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DEĞER VE SONRAKI ADIM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8B5D8-E3FF-4768-8862-3CC6AF94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Sonuç: daha hızlı tespit, daha iyi açıklama, daha güvenli müdahale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EB0B-CB00-4CF0-88B6-35D3226E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3DB4C-6AD4-46AA-90C9-5AB3F89D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D42F3-AFCD-4CF5-AAA3-F19241AC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1130B-E4EB-4179-B470-A692637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9C3D0-874E-4768-B2F4-8D15E690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C6E8"/>
                </a:solidFill>
              </a:defRPr>
            </a:pPr>
            <a:r>
              <a:rPr sz="225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C1D0F-E283-4D76-870F-7F5E6B09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GÖRÜNÜRLÜK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3F5B4-A2E0-464E-92BD-0566DF91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Metrik, log, trace ve iş sinyali aynı bağlamda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EE430-1D7B-4094-B1C5-FA121C2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8CD9E-A847-4E71-A680-3F103B58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23613-6D2C-4B50-9238-EBAB34FC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ZEKA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575DE-87D4-47E2-928A-87305B03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71875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Açıklanabilir hibrit anomali ve kök neden sıralama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5F537-9B91-42B2-B24B-9DE67798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5322E-D271-46AC-86BE-36559054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C6E8"/>
                </a:solidFill>
              </a:defRPr>
            </a:pPr>
            <a:r>
              <a:rPr sz="2250" b="1">
                <a:solidFill>
                  <a:srgbClr val="48C6E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8A7ED-47BF-48FE-A323-1BAEA519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GÜVEN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C875D-35C1-45F8-9F54-63A9D3D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71875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Dry-run, RBAC, risk eşiği, cooldown ve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7DA9E-A38F-44DB-9E5B-E14F8AE3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8382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9525">
            <a:solidFill>
              <a:srgbClr val="F044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5C925-B697-4207-A17F-7A635280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76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Sonraki adım: Huawei Cloud hesabında kontrollü plan → dry-run → aktive et</a:t>
            </a:r>
          </a:p>
        </p:txBody>
      </p:sp>
    </p:spTree>
    <p:extLst>
      <p:ext uri="{BB962C8B-B14F-4D97-AF65-F5344CB8AC3E}">
        <p14:creationId xmlns:p14="http://schemas.microsoft.com/office/powerpoint/2010/main" val="1390828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2026-07-28T10:19:58.6670000Z</dcterms:created>
  <dcterms:modified xsi:type="dcterms:W3CDTF">2026-07-28T10:19:58.6670000Z</dcterms:modified>
</coreProperties>
</file>